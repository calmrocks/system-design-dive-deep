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154" r:id="rId1"/>
  </p:sldMasterIdLst>
  <p:notesMasterIdLst>
    <p:notesMasterId r:id="rId31"/>
  </p:notesMasterIdLst>
  <p:sldIdLst>
    <p:sldId id="347" r:id="rId2"/>
    <p:sldId id="345" r:id="rId3"/>
    <p:sldId id="348" r:id="rId4"/>
    <p:sldId id="349" r:id="rId5"/>
    <p:sldId id="350" r:id="rId6"/>
    <p:sldId id="351" r:id="rId7"/>
    <p:sldId id="352" r:id="rId8"/>
    <p:sldId id="353" r:id="rId9"/>
    <p:sldId id="354" r:id="rId10"/>
    <p:sldId id="355" r:id="rId11"/>
    <p:sldId id="356" r:id="rId12"/>
    <p:sldId id="357" r:id="rId13"/>
    <p:sldId id="358" r:id="rId14"/>
    <p:sldId id="359" r:id="rId15"/>
    <p:sldId id="360" r:id="rId16"/>
    <p:sldId id="361" r:id="rId17"/>
    <p:sldId id="362" r:id="rId18"/>
    <p:sldId id="363" r:id="rId19"/>
    <p:sldId id="364" r:id="rId20"/>
    <p:sldId id="374" r:id="rId21"/>
    <p:sldId id="365" r:id="rId22"/>
    <p:sldId id="368" r:id="rId23"/>
    <p:sldId id="366" r:id="rId24"/>
    <p:sldId id="367" r:id="rId25"/>
    <p:sldId id="369" r:id="rId26"/>
    <p:sldId id="370" r:id="rId27"/>
    <p:sldId id="371" r:id="rId28"/>
    <p:sldId id="372" r:id="rId29"/>
    <p:sldId id="373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819"/>
    <p:restoredTop sz="90692"/>
  </p:normalViewPr>
  <p:slideViewPr>
    <p:cSldViewPr snapToGrid="0">
      <p:cViewPr>
        <p:scale>
          <a:sx n="138" d="100"/>
          <a:sy n="138" d="100"/>
        </p:scale>
        <p:origin x="-48" y="-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AE9F07-5FA6-BA49-B825-7EA04045DFAA}" type="datetimeFigureOut">
              <a:rPr lang="en-US" smtClean="0"/>
              <a:t>12/1/25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DDBB-588D-E349-89FB-E97E41944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92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3DDBB-588D-E349-89FB-E97E419441E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1086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082A3-43A7-48D7-9E90-027BB0288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CD5397-56DF-4D13-F8F2-26938D7FC2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6F0655-09CD-A7FE-550F-E0F26F4E56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assumptions we are making here?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82FB45-1409-097B-6A7E-1F13D001E7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3DDBB-588D-E349-89FB-E97E419441E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420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US" dirty="0" err="1"/>
              <a:t>student_course_view</a:t>
            </a:r>
            <a:r>
              <a:rPr lang="en-US" dirty="0"/>
              <a:t>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3DDBB-588D-E349-89FB-E97E419441E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6835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160A0-6EA8-5914-4530-BF3C4B704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D5AD1D-3A06-BD19-0C61-DF44EE6BC0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C62ADC-5CA4-8C2D-3766-DE6D570B92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US" dirty="0" err="1"/>
              <a:t>student_course_view</a:t>
            </a:r>
            <a:r>
              <a:rPr lang="en-US" dirty="0"/>
              <a:t>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23414F-5235-B611-96DA-72FB4334EF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3DDBB-588D-E349-89FB-E97E419441E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154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78ABE3C1-DBE1-495D-B57B-2849774B866A}" type="datetimeFigureOut">
              <a:rPr lang="en-US" smtClean="0"/>
              <a:t>12/1/25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692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9DEC-419B-4CC5-A080-3B06BD5A8291}" type="datetimeFigureOut">
              <a:rPr lang="en-US" smtClean="0"/>
              <a:t>12/1/25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993094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8ACC-22D6-47C1-A373-4FD133E34F3C}" type="datetimeFigureOut">
              <a:rPr lang="en-US" smtClean="0"/>
              <a:t>12/1/25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978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9DEC-419B-4CC5-A080-3B06BD5A8291}" type="datetimeFigureOut">
              <a:rPr lang="en-US" smtClean="0"/>
              <a:t>12/1/25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34384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9DEC-419B-4CC5-A080-3B06BD5A8291}" type="datetimeFigureOut">
              <a:rPr lang="en-US" smtClean="0"/>
              <a:t>12/1/25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620133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F462-093F-4566-844B-4C71F2739DA5}" type="datetimeFigureOut">
              <a:rPr lang="en-US" smtClean="0"/>
              <a:t>12/1/25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9990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A7AC-904D-4781-85BA-7D10C17ED021}" type="datetimeFigureOut">
              <a:rPr lang="en-US" smtClean="0"/>
              <a:t>12/1/25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6411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9DEC-419B-4CC5-A080-3B06BD5A8291}" type="datetimeFigureOut">
              <a:rPr lang="en-US" smtClean="0"/>
              <a:t>12/1/25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638568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FA5E-FA76-400D-B3DC-F0BA90E6D107}" type="datetimeFigureOut">
              <a:rPr lang="en-US" smtClean="0"/>
              <a:t>12/1/25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23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9DEC-419B-4CC5-A080-3B06BD5A8291}" type="datetimeFigureOut">
              <a:rPr lang="en-US" smtClean="0"/>
              <a:t>12/1/25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340519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9DEC-419B-4CC5-A080-3B06BD5A8291}" type="datetimeFigureOut">
              <a:rPr lang="en-US" smtClean="0"/>
              <a:t>12/1/25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262427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9DEC-419B-4CC5-A080-3B06BD5A8291}" type="datetimeFigureOut">
              <a:rPr lang="en-US" smtClean="0"/>
              <a:t>12/1/25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006308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9DEC-419B-4CC5-A080-3B06BD5A8291}" type="datetimeFigureOut">
              <a:rPr lang="en-US" smtClean="0"/>
              <a:t>12/1/25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260970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9DEC-419B-4CC5-A080-3B06BD5A8291}" type="datetimeFigureOut">
              <a:rPr lang="en-US" smtClean="0"/>
              <a:t>12/1/25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493320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9DEC-419B-4CC5-A080-3B06BD5A8291}" type="datetimeFigureOut">
              <a:rPr lang="en-US" smtClean="0"/>
              <a:t>12/1/25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172049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9DEC-419B-4CC5-A080-3B06BD5A8291}" type="datetimeFigureOut">
              <a:rPr lang="en-US" smtClean="0"/>
              <a:t>12/1/25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5126202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9DEC-419B-4CC5-A080-3B06BD5A8291}" type="datetimeFigureOut">
              <a:rPr lang="en-US" smtClean="0"/>
              <a:t>12/1/25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9070777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D6E9DEC-419B-4CC5-A080-3B06BD5A8291}" type="datetimeFigureOut">
              <a:rPr lang="en-US" smtClean="0"/>
              <a:t>12/1/25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1688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55" r:id="rId1"/>
    <p:sldLayoutId id="2147484156" r:id="rId2"/>
    <p:sldLayoutId id="2147484157" r:id="rId3"/>
    <p:sldLayoutId id="2147484158" r:id="rId4"/>
    <p:sldLayoutId id="2147484159" r:id="rId5"/>
    <p:sldLayoutId id="2147484160" r:id="rId6"/>
    <p:sldLayoutId id="2147484161" r:id="rId7"/>
    <p:sldLayoutId id="2147484162" r:id="rId8"/>
    <p:sldLayoutId id="2147484163" r:id="rId9"/>
    <p:sldLayoutId id="2147484164" r:id="rId10"/>
    <p:sldLayoutId id="2147484165" r:id="rId11"/>
    <p:sldLayoutId id="2147484166" r:id="rId12"/>
    <p:sldLayoutId id="2147484167" r:id="rId13"/>
    <p:sldLayoutId id="2147484168" r:id="rId14"/>
    <p:sldLayoutId id="2147484169" r:id="rId15"/>
    <p:sldLayoutId id="2147484170" r:id="rId16"/>
    <p:sldLayoutId id="2147484171" r:id="rId17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E444C-6498-847E-A828-B7F77AF21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4D66F-7E24-9891-9456-0E15AA00B1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Normalization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408A8D-00A9-B8A8-CA6E-3EA4EB8887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Understanding when and why to normalize your data</a:t>
            </a:r>
          </a:p>
        </p:txBody>
      </p:sp>
    </p:spTree>
    <p:extLst>
      <p:ext uri="{BB962C8B-B14F-4D97-AF65-F5344CB8AC3E}">
        <p14:creationId xmlns:p14="http://schemas.microsoft.com/office/powerpoint/2010/main" val="4267113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46758-8D2D-D1D8-144B-9183F56EF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Mess We're Trying to Avoid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8D7BC4-B72A-7565-5B17-A2A746BF49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problems do you see?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F960E5-CCC3-C81E-81A3-5A75D1B78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3127633"/>
            <a:ext cx="10052829" cy="2903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332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013B6-2F60-DDF0-B06D-F12F20E24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The Core Problems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BB134A-EF90-6AFD-E2C3-C3F1048A85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62500" lnSpcReduction="20000"/>
          </a:bodyPr>
          <a:lstStyle/>
          <a:p>
            <a:pPr latinLnBrk="1"/>
            <a:r>
              <a:rPr lang="en-US" dirty="0"/>
              <a:t>1. INSERT ANOMALY</a:t>
            </a:r>
          </a:p>
          <a:p>
            <a:pPr latinLnBrk="1"/>
            <a:r>
              <a:rPr lang="en-US" dirty="0"/>
              <a:t>   Problem: Can't add a course unless someone enrolls</a:t>
            </a:r>
          </a:p>
          <a:p>
            <a:pPr latinLnBrk="1"/>
            <a:r>
              <a:rPr lang="en-US" dirty="0"/>
              <a:t>   Example: New course "CS102" exists, but no students yet</a:t>
            </a:r>
          </a:p>
          <a:p>
            <a:pPr latinLnBrk="1"/>
            <a:r>
              <a:rPr lang="en-US" dirty="0"/>
              <a:t>   → Can't insert into table!</a:t>
            </a:r>
          </a:p>
          <a:p>
            <a:pPr latinLnBrk="1"/>
            <a:endParaRPr lang="en-US" dirty="0"/>
          </a:p>
          <a:p>
            <a:pPr latinLnBrk="1"/>
            <a:r>
              <a:rPr lang="en-US" dirty="0"/>
              <a:t>2. UPDATE ANOMALY</a:t>
            </a:r>
          </a:p>
          <a:p>
            <a:pPr latinLnBrk="1"/>
            <a:r>
              <a:rPr lang="en-US" dirty="0"/>
              <a:t>   Problem: Update data in multiple places</a:t>
            </a:r>
          </a:p>
          <a:p>
            <a:pPr latinLnBrk="1"/>
            <a:r>
              <a:rPr lang="en-US" dirty="0"/>
              <a:t>   Example: Dr. Smith changes name to Dr. Smith-Johnson</a:t>
            </a:r>
          </a:p>
          <a:p>
            <a:pPr latinLnBrk="1"/>
            <a:r>
              <a:rPr lang="en-US" dirty="0"/>
              <a:t>   → Must update every row mentioning them</a:t>
            </a:r>
          </a:p>
          <a:p>
            <a:pPr latinLnBrk="1"/>
            <a:r>
              <a:rPr lang="en-US" dirty="0"/>
              <a:t>   → Risk of inconsistency if we miss some</a:t>
            </a:r>
          </a:p>
          <a:p>
            <a:pPr latinLnBrk="1"/>
            <a:endParaRPr lang="en-US" dirty="0"/>
          </a:p>
          <a:p>
            <a:pPr latinLnBrk="1"/>
            <a:r>
              <a:rPr lang="en-US" dirty="0"/>
              <a:t>3. DELETE ANOMALY</a:t>
            </a:r>
          </a:p>
          <a:p>
            <a:pPr latinLnBrk="1"/>
            <a:r>
              <a:rPr lang="en-US" dirty="0"/>
              <a:t>   Problem: Deleting one thing deletes unrelated data</a:t>
            </a:r>
          </a:p>
          <a:p>
            <a:pPr latinLnBrk="1"/>
            <a:r>
              <a:rPr lang="en-US" dirty="0"/>
              <a:t>   Example: Bob drops CS101 (last student)</a:t>
            </a:r>
          </a:p>
          <a:p>
            <a:pPr latinLnBrk="1"/>
            <a:r>
              <a:rPr lang="en-US" dirty="0"/>
              <a:t>   → Lose all info about CS101 existing!</a:t>
            </a:r>
          </a:p>
          <a:p>
            <a:pPr latinLnBrk="1"/>
            <a:endParaRPr lang="en-US" dirty="0"/>
          </a:p>
          <a:p>
            <a:pPr latinLnBrk="1"/>
            <a:r>
              <a:rPr lang="en-US" dirty="0"/>
              <a:t>4. REDUNDANCY</a:t>
            </a:r>
          </a:p>
          <a:p>
            <a:pPr latinLnBrk="1"/>
            <a:r>
              <a:rPr lang="en-US" dirty="0"/>
              <a:t>   Problem: Same data stored multiple times</a:t>
            </a:r>
          </a:p>
          <a:p>
            <a:pPr latinLnBrk="1"/>
            <a:r>
              <a:rPr lang="en-US" dirty="0"/>
              <a:t>   Example: "CS Department" repeated 100 times</a:t>
            </a:r>
          </a:p>
          <a:p>
            <a:r>
              <a:rPr lang="en-US" dirty="0"/>
              <a:t>   → Wasted space, inconsistency risk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7433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6EACF-A8FE-A409-2331-4D56C5AA2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Normalized Version (Simplified)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88DCB-E77B-2AE8-6BCE-2B9B765548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0A66CC-82E2-85F3-757A-B7F0994CD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1" y="2594643"/>
            <a:ext cx="10023494" cy="2152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844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B3D17-D8D8-691E-3358-2C14258E0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9F11C-F2AD-6BB4-5A39-D3B86DF6E1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5680752" cy="3318936"/>
          </a:xfrm>
        </p:spPr>
        <p:txBody>
          <a:bodyPr/>
          <a:lstStyle/>
          <a:p>
            <a:pPr latinLnBrk="1"/>
            <a:r>
              <a:rPr lang="en-US" dirty="0"/>
              <a:t>✅ Each fact stored once</a:t>
            </a:r>
          </a:p>
          <a:p>
            <a:pPr latinLnBrk="1"/>
            <a:r>
              <a:rPr lang="en-US" dirty="0"/>
              <a:t>✅ Can add course without students</a:t>
            </a:r>
          </a:p>
          <a:p>
            <a:pPr latinLnBrk="1"/>
            <a:r>
              <a:rPr lang="en-US" dirty="0"/>
              <a:t>✅ Update instructor name once</a:t>
            </a:r>
          </a:p>
          <a:p>
            <a:r>
              <a:rPr lang="en-US" dirty="0"/>
              <a:t>✅ Delete student without losing course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906AFF-4CCB-ED9C-1B90-1C3B40F1E7C1}"/>
              </a:ext>
            </a:extLst>
          </p:cNvPr>
          <p:cNvSpPr txBox="1"/>
          <p:nvPr/>
        </p:nvSpPr>
        <p:spPr>
          <a:xfrm rot="20989875">
            <a:off x="6601999" y="2938409"/>
            <a:ext cx="429459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"Normalization = organizing data to avoid anomalies"</a:t>
            </a:r>
          </a:p>
        </p:txBody>
      </p:sp>
    </p:spTree>
    <p:extLst>
      <p:ext uri="{BB962C8B-B14F-4D97-AF65-F5344CB8AC3E}">
        <p14:creationId xmlns:p14="http://schemas.microsoft.com/office/powerpoint/2010/main" val="1263814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E2AB0-645C-6D29-866B-0FA8901BD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Understanding Keys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C3728-B8C0-CA00-B818-F10FE21F6B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47500" lnSpcReduction="20000"/>
          </a:bodyPr>
          <a:lstStyle/>
          <a:p>
            <a:pPr latinLnBrk="1"/>
            <a:r>
              <a:rPr lang="en-US" dirty="0"/>
              <a:t>PRIMARY KEY (PK):</a:t>
            </a:r>
          </a:p>
          <a:p>
            <a:pPr latinLnBrk="1"/>
            <a:r>
              <a:rPr lang="en-US" dirty="0"/>
              <a:t>  Uniquely identifies each row</a:t>
            </a:r>
          </a:p>
          <a:p>
            <a:pPr latinLnBrk="1"/>
            <a:r>
              <a:rPr lang="en-US" dirty="0"/>
              <a:t>  Example: </a:t>
            </a:r>
            <a:r>
              <a:rPr lang="en-US" dirty="0" err="1"/>
              <a:t>student_id</a:t>
            </a:r>
            <a:endParaRPr lang="en-US" dirty="0"/>
          </a:p>
          <a:p>
            <a:pPr latinLnBrk="1"/>
            <a:endParaRPr lang="en-US" dirty="0"/>
          </a:p>
          <a:p>
            <a:pPr latinLnBrk="1"/>
            <a:r>
              <a:rPr lang="en-US" dirty="0"/>
              <a:t>CANDIDATE KEY:</a:t>
            </a:r>
          </a:p>
          <a:p>
            <a:pPr latinLnBrk="1"/>
            <a:r>
              <a:rPr lang="en-US" dirty="0"/>
              <a:t>  Any column(s) that COULD be primary key</a:t>
            </a:r>
          </a:p>
          <a:p>
            <a:pPr latinLnBrk="1"/>
            <a:r>
              <a:rPr lang="en-US" dirty="0"/>
              <a:t>  Example: </a:t>
            </a:r>
            <a:r>
              <a:rPr lang="en-US" dirty="0" err="1"/>
              <a:t>student_id</a:t>
            </a:r>
            <a:r>
              <a:rPr lang="en-US" dirty="0"/>
              <a:t>, email (both unique)</a:t>
            </a:r>
          </a:p>
          <a:p>
            <a:pPr latinLnBrk="1"/>
            <a:endParaRPr lang="en-US" dirty="0"/>
          </a:p>
          <a:p>
            <a:pPr latinLnBrk="1"/>
            <a:r>
              <a:rPr lang="en-US" dirty="0"/>
              <a:t>COMPOSITE KEY:</a:t>
            </a:r>
          </a:p>
          <a:p>
            <a:pPr latinLnBrk="1"/>
            <a:r>
              <a:rPr lang="en-US" dirty="0"/>
              <a:t>  Primary key made of multiple columns</a:t>
            </a:r>
          </a:p>
          <a:p>
            <a:pPr latinLnBrk="1"/>
            <a:r>
              <a:rPr lang="en-US" dirty="0"/>
              <a:t>  Example: (</a:t>
            </a:r>
            <a:r>
              <a:rPr lang="en-US" dirty="0" err="1"/>
              <a:t>student_id</a:t>
            </a:r>
            <a:r>
              <a:rPr lang="en-US" dirty="0"/>
              <a:t>, </a:t>
            </a:r>
            <a:r>
              <a:rPr lang="en-US" dirty="0" err="1"/>
              <a:t>course_id</a:t>
            </a:r>
            <a:r>
              <a:rPr lang="en-US" dirty="0"/>
              <a:t>) for enrollment</a:t>
            </a:r>
          </a:p>
          <a:p>
            <a:pPr latinLnBrk="1"/>
            <a:endParaRPr lang="en-US" dirty="0"/>
          </a:p>
          <a:p>
            <a:pPr latinLnBrk="1"/>
            <a:r>
              <a:rPr lang="en-US" dirty="0"/>
              <a:t>FOREIGN KEY (FK):</a:t>
            </a:r>
          </a:p>
          <a:p>
            <a:pPr latinLnBrk="1"/>
            <a:r>
              <a:rPr lang="en-US" dirty="0"/>
              <a:t>  References primary key in another table</a:t>
            </a:r>
          </a:p>
          <a:p>
            <a:pPr latinLnBrk="1"/>
            <a:r>
              <a:rPr lang="en-US" dirty="0"/>
              <a:t>  Example: </a:t>
            </a:r>
            <a:r>
              <a:rPr lang="en-US" dirty="0" err="1"/>
              <a:t>student_id</a:t>
            </a:r>
            <a:r>
              <a:rPr lang="en-US" dirty="0"/>
              <a:t> in enrollments → </a:t>
            </a:r>
            <a:r>
              <a:rPr lang="en-US" dirty="0" err="1"/>
              <a:t>students.student_id</a:t>
            </a:r>
            <a:endParaRPr lang="en-US" dirty="0"/>
          </a:p>
          <a:p>
            <a:pPr latinLnBrk="1"/>
            <a:endParaRPr lang="en-US" dirty="0"/>
          </a:p>
          <a:p>
            <a:pPr latinLnBrk="1"/>
            <a:r>
              <a:rPr lang="en-US" dirty="0"/>
              <a:t>FUNCTIONAL DEPENDENCY:</a:t>
            </a:r>
          </a:p>
          <a:p>
            <a:pPr latinLnBrk="1"/>
            <a:r>
              <a:rPr lang="en-US" dirty="0"/>
              <a:t>  A → B means "A determines B"</a:t>
            </a:r>
          </a:p>
          <a:p>
            <a:pPr latinLnBrk="1"/>
            <a:r>
              <a:rPr lang="en-US" dirty="0"/>
              <a:t>  Example: </a:t>
            </a:r>
            <a:r>
              <a:rPr lang="en-US" dirty="0" err="1"/>
              <a:t>student_id</a:t>
            </a:r>
            <a:r>
              <a:rPr lang="en-US" dirty="0"/>
              <a:t> → name</a:t>
            </a:r>
          </a:p>
          <a:p>
            <a:r>
              <a:rPr lang="en-US" dirty="0"/>
              <a:t>  (knowing </a:t>
            </a:r>
            <a:r>
              <a:rPr lang="en-US" dirty="0" err="1"/>
              <a:t>student_id</a:t>
            </a:r>
            <a:r>
              <a:rPr lang="en-US" dirty="0"/>
              <a:t> tells you the name)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997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7C873-D06F-9A58-1494-D5C723925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The Normal Forms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B7A36-96FF-D4EE-15A4-E65D0F9F9E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atinLnBrk="1"/>
            <a:r>
              <a:rPr lang="en-US" dirty="0"/>
              <a:t> 5NF ─────► Very Rare</a:t>
            </a:r>
          </a:p>
          <a:p>
            <a:pPr latinLnBrk="1"/>
            <a:r>
              <a:rPr lang="en-US" dirty="0"/>
              <a:t>        4NF ─────► Rare</a:t>
            </a:r>
          </a:p>
          <a:p>
            <a:pPr latinLnBrk="1"/>
            <a:r>
              <a:rPr lang="en-US" dirty="0"/>
              <a:t>        BCNF ────► Advanced</a:t>
            </a:r>
          </a:p>
          <a:p>
            <a:pPr latinLnBrk="1"/>
            <a:r>
              <a:rPr lang="en-US" dirty="0"/>
              <a:t>        3NF ─────► Target for most apps ⭐</a:t>
            </a:r>
          </a:p>
          <a:p>
            <a:pPr latinLnBrk="1"/>
            <a:r>
              <a:rPr lang="en-US" dirty="0"/>
              <a:t>        2NF ─────► Intermediate</a:t>
            </a:r>
          </a:p>
          <a:p>
            <a:pPr latinLnBrk="1"/>
            <a:r>
              <a:rPr lang="en-US" dirty="0"/>
              <a:t>        1NF ─────► Minimum requirement</a:t>
            </a:r>
          </a:p>
          <a:p>
            <a:r>
              <a:rPr lang="en-US" dirty="0"/>
              <a:t>Unnormalized ────► Starting point</a:t>
            </a:r>
          </a:p>
        </p:txBody>
      </p:sp>
    </p:spTree>
    <p:extLst>
      <p:ext uri="{BB962C8B-B14F-4D97-AF65-F5344CB8AC3E}">
        <p14:creationId xmlns:p14="http://schemas.microsoft.com/office/powerpoint/2010/main" val="2317147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8C2F9-6277-32B6-D793-A0D6D1401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First Normal Form (1NF)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44225-AC48-CF9C-E581-07982A929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Rule:</a:t>
            </a:r>
            <a:r>
              <a:rPr lang="en-US" dirty="0"/>
              <a:t> "Atomic values only - no lists, no repeating groups”</a:t>
            </a:r>
          </a:p>
          <a:p>
            <a:pPr marL="0" indent="0" latinLnBrk="1">
              <a:buNone/>
            </a:pPr>
            <a:r>
              <a:rPr lang="en-US" i="1" dirty="0"/>
              <a:t>-- ❌ VIOLATES 1NF</a:t>
            </a:r>
            <a:endParaRPr lang="en-US" dirty="0"/>
          </a:p>
          <a:p>
            <a:pPr marL="0" indent="0" latinLnBrk="1">
              <a:buNone/>
            </a:pPr>
            <a:r>
              <a:rPr lang="en-US" dirty="0"/>
              <a:t>CREATE TABLE students (</a:t>
            </a:r>
          </a:p>
          <a:p>
            <a:pPr marL="0" indent="0" latinLnBrk="1">
              <a:buNone/>
            </a:pPr>
            <a:r>
              <a:rPr lang="en-US" dirty="0"/>
              <a:t>    </a:t>
            </a:r>
            <a:r>
              <a:rPr lang="en-US" dirty="0" err="1"/>
              <a:t>student_id</a:t>
            </a:r>
            <a:r>
              <a:rPr lang="en-US" dirty="0"/>
              <a:t> INT,</a:t>
            </a:r>
          </a:p>
          <a:p>
            <a:pPr marL="0" indent="0" latinLnBrk="1">
              <a:buNone/>
            </a:pPr>
            <a:r>
              <a:rPr lang="en-US" dirty="0"/>
              <a:t>    name VARCHAR(100),</a:t>
            </a:r>
          </a:p>
          <a:p>
            <a:pPr marL="0" indent="0" latinLnBrk="1">
              <a:buNone/>
            </a:pPr>
            <a:r>
              <a:rPr lang="en-US" dirty="0"/>
              <a:t>    courses VARCHAR(500)  </a:t>
            </a:r>
            <a:r>
              <a:rPr lang="en-US" i="1" dirty="0"/>
              <a:t>-- "CS101, MATH, PHYS101" ← Multiple values! </a:t>
            </a:r>
          </a:p>
          <a:p>
            <a:pPr marL="0" indent="0" latinLnBrk="1">
              <a:buNone/>
            </a:pPr>
            <a:r>
              <a:rPr lang="en-US" i="1" dirty="0"/>
              <a:t>Unbounded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209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04980-9598-01ED-5CC2-8B6D0757B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First Normal Form (1NF)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217A6-4ADE-7A4C-95C4-11EC6947A4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 latinLnBrk="1">
              <a:buNone/>
            </a:pPr>
            <a:r>
              <a:rPr lang="en-US" i="1" dirty="0"/>
              <a:t>-- ✅ SATISFIES 1NF</a:t>
            </a:r>
            <a:endParaRPr lang="en-US" dirty="0"/>
          </a:p>
          <a:p>
            <a:pPr marL="0" indent="0" latinLnBrk="1">
              <a:buNone/>
            </a:pPr>
            <a:r>
              <a:rPr lang="en-US" dirty="0"/>
              <a:t>CREATE TABLE students (</a:t>
            </a:r>
          </a:p>
          <a:p>
            <a:pPr marL="0" indent="0" latinLnBrk="1">
              <a:buNone/>
            </a:pPr>
            <a:r>
              <a:rPr lang="en-US" dirty="0"/>
              <a:t>    </a:t>
            </a:r>
            <a:r>
              <a:rPr lang="en-US" dirty="0" err="1"/>
              <a:t>student_id</a:t>
            </a:r>
            <a:r>
              <a:rPr lang="en-US" dirty="0"/>
              <a:t> INT PRIMARY KEY,</a:t>
            </a:r>
          </a:p>
          <a:p>
            <a:pPr marL="0" indent="0" latinLnBrk="1">
              <a:buNone/>
            </a:pPr>
            <a:r>
              <a:rPr lang="en-US" dirty="0"/>
              <a:t>    name VARCHAR(100)</a:t>
            </a:r>
          </a:p>
          <a:p>
            <a:pPr marL="0" indent="0" latinLnBrk="1">
              <a:buNone/>
            </a:pPr>
            <a:r>
              <a:rPr lang="en-US" dirty="0"/>
              <a:t>);</a:t>
            </a:r>
          </a:p>
          <a:p>
            <a:pPr marL="0" indent="0" latinLnBrk="1">
              <a:buNone/>
            </a:pPr>
            <a:endParaRPr lang="en-US" dirty="0"/>
          </a:p>
          <a:p>
            <a:pPr marL="0" indent="0" latinLnBrk="1">
              <a:buNone/>
            </a:pPr>
            <a:r>
              <a:rPr lang="en-US" dirty="0"/>
              <a:t>CREATE TABLE enrollments (</a:t>
            </a:r>
          </a:p>
          <a:p>
            <a:pPr marL="0" indent="0" latinLnBrk="1">
              <a:buNone/>
            </a:pPr>
            <a:r>
              <a:rPr lang="en-US" dirty="0"/>
              <a:t>    </a:t>
            </a:r>
            <a:r>
              <a:rPr lang="en-US" dirty="0" err="1"/>
              <a:t>student_id</a:t>
            </a:r>
            <a:r>
              <a:rPr lang="en-US" dirty="0"/>
              <a:t> INT,</a:t>
            </a:r>
          </a:p>
          <a:p>
            <a:pPr marL="0" indent="0" latinLnBrk="1">
              <a:buNone/>
            </a:pPr>
            <a:r>
              <a:rPr lang="en-US" dirty="0"/>
              <a:t>    </a:t>
            </a:r>
            <a:r>
              <a:rPr lang="en-US" dirty="0" err="1"/>
              <a:t>course_id</a:t>
            </a:r>
            <a:r>
              <a:rPr lang="en-US" dirty="0"/>
              <a:t> VARCHAR(10),</a:t>
            </a:r>
          </a:p>
          <a:p>
            <a:pPr marL="0" indent="0" latinLnBrk="1">
              <a:buNone/>
            </a:pPr>
            <a:r>
              <a:rPr lang="en-US" dirty="0"/>
              <a:t>    PRIMARY KEY (</a:t>
            </a:r>
            <a:r>
              <a:rPr lang="en-US" dirty="0" err="1"/>
              <a:t>student_id</a:t>
            </a:r>
            <a:r>
              <a:rPr lang="en-US" dirty="0"/>
              <a:t>, </a:t>
            </a:r>
            <a:r>
              <a:rPr lang="en-US" dirty="0" err="1"/>
              <a:t>course_id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477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286DE-27FA-E948-2F0A-E0560169B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D636A-DEFC-C423-DBA2-4152F0D86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First Normal Form (1NF)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10ED8-D447-672E-5663-90B1A4F7AF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atinLnBrk="1">
              <a:buNone/>
            </a:pPr>
            <a:r>
              <a:rPr lang="en-US" b="1" dirty="0"/>
              <a:t>Key Takeaway:</a:t>
            </a:r>
            <a:r>
              <a:rPr lang="en-US" dirty="0"/>
              <a:t> "Each cell should contain ONE value"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CA5BDB-4A7C-6E9E-69DD-FEC2EA0C8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3066621"/>
            <a:ext cx="7612293" cy="3079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552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6B9DC-8B06-8A6E-BBB2-A08524B46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Second Normal Form (2NF)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11E74-333D-0895-07FA-31D9B6FFC7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b="1" dirty="0"/>
              <a:t>Rule:</a:t>
            </a:r>
            <a:r>
              <a:rPr lang="en-US" dirty="0"/>
              <a:t> "No partial dependencies on composite keys"</a:t>
            </a:r>
          </a:p>
          <a:p>
            <a:r>
              <a:rPr lang="en-US" b="1" dirty="0"/>
              <a:t>Prerequisite:</a:t>
            </a:r>
            <a:r>
              <a:rPr lang="en-US" dirty="0"/>
              <a:t> Must be in 1NF first</a:t>
            </a:r>
          </a:p>
          <a:p>
            <a:pPr marL="0" indent="0" latinLnBrk="1">
              <a:buNone/>
            </a:pPr>
            <a:r>
              <a:rPr lang="en-US" i="1" dirty="0"/>
              <a:t>-- Composite key: (</a:t>
            </a:r>
            <a:r>
              <a:rPr lang="en-US" i="1" dirty="0" err="1"/>
              <a:t>student_id</a:t>
            </a:r>
            <a:r>
              <a:rPr lang="en-US" i="1" dirty="0"/>
              <a:t>, </a:t>
            </a:r>
            <a:r>
              <a:rPr lang="en-US" i="1" dirty="0" err="1"/>
              <a:t>course_id</a:t>
            </a:r>
            <a:r>
              <a:rPr lang="en-US" i="1" dirty="0"/>
              <a:t>)</a:t>
            </a:r>
            <a:endParaRPr lang="en-US" dirty="0"/>
          </a:p>
          <a:p>
            <a:pPr marL="0" indent="0" latinLnBrk="1">
              <a:buNone/>
            </a:pPr>
            <a:r>
              <a:rPr lang="en-US" dirty="0"/>
              <a:t>CREATE TABLE enrollments (</a:t>
            </a:r>
          </a:p>
          <a:p>
            <a:pPr marL="0" indent="0" latinLnBrk="1">
              <a:buNone/>
            </a:pPr>
            <a:r>
              <a:rPr lang="en-US" dirty="0"/>
              <a:t>    </a:t>
            </a:r>
            <a:r>
              <a:rPr lang="en-US" dirty="0" err="1"/>
              <a:t>student_id</a:t>
            </a:r>
            <a:r>
              <a:rPr lang="en-US" dirty="0"/>
              <a:t> INT,</a:t>
            </a:r>
          </a:p>
          <a:p>
            <a:pPr marL="0" indent="0" latinLnBrk="1">
              <a:buNone/>
            </a:pPr>
            <a:r>
              <a:rPr lang="en-US" dirty="0"/>
              <a:t>    </a:t>
            </a:r>
            <a:r>
              <a:rPr lang="en-US" dirty="0" err="1"/>
              <a:t>course_id</a:t>
            </a:r>
            <a:r>
              <a:rPr lang="en-US" dirty="0"/>
              <a:t> VARCHAR(10),</a:t>
            </a:r>
          </a:p>
          <a:p>
            <a:pPr marL="0" indent="0" latinLnBrk="1">
              <a:buNone/>
            </a:pPr>
            <a:r>
              <a:rPr lang="en-US" dirty="0"/>
              <a:t>    </a:t>
            </a:r>
            <a:r>
              <a:rPr lang="en-US" dirty="0" err="1"/>
              <a:t>student_name</a:t>
            </a:r>
            <a:r>
              <a:rPr lang="en-US" dirty="0"/>
              <a:t> VARCHAR(100),  </a:t>
            </a:r>
            <a:r>
              <a:rPr lang="en-US" i="1" dirty="0"/>
              <a:t>-- ❌ Depends only on </a:t>
            </a:r>
            <a:r>
              <a:rPr lang="en-US" i="1" dirty="0" err="1"/>
              <a:t>student_id</a:t>
            </a:r>
            <a:r>
              <a:rPr lang="en-US" i="1" dirty="0"/>
              <a:t>!</a:t>
            </a:r>
            <a:endParaRPr lang="en-US" dirty="0"/>
          </a:p>
          <a:p>
            <a:pPr marL="0" indent="0" latinLnBrk="1">
              <a:buNone/>
            </a:pPr>
            <a:r>
              <a:rPr lang="en-US" dirty="0"/>
              <a:t>    </a:t>
            </a:r>
            <a:r>
              <a:rPr lang="en-US" dirty="0" err="1"/>
              <a:t>course_name</a:t>
            </a:r>
            <a:r>
              <a:rPr lang="en-US" dirty="0"/>
              <a:t> VARCHAR(100),   </a:t>
            </a:r>
            <a:r>
              <a:rPr lang="en-US" i="1" dirty="0"/>
              <a:t>-- ❌ Depends only on </a:t>
            </a:r>
            <a:r>
              <a:rPr lang="en-US" i="1" dirty="0" err="1"/>
              <a:t>course_id</a:t>
            </a:r>
            <a:r>
              <a:rPr lang="en-US" i="1" dirty="0"/>
              <a:t>!</a:t>
            </a:r>
            <a:endParaRPr lang="en-US" dirty="0"/>
          </a:p>
          <a:p>
            <a:pPr marL="0" indent="0" latinLnBrk="1">
              <a:buNone/>
            </a:pPr>
            <a:r>
              <a:rPr lang="en-US" dirty="0"/>
              <a:t>    grade CHAR(1),              </a:t>
            </a:r>
            <a:r>
              <a:rPr lang="en-US" i="1" dirty="0"/>
              <a:t>-- ✅ Depends on both</a:t>
            </a:r>
            <a:endParaRPr lang="en-US" dirty="0"/>
          </a:p>
          <a:p>
            <a:pPr marL="0" indent="0" latinLnBrk="1">
              <a:buNone/>
            </a:pPr>
            <a:r>
              <a:rPr lang="en-US" dirty="0"/>
              <a:t>    PRIMARY KEY (</a:t>
            </a:r>
            <a:r>
              <a:rPr lang="en-US" dirty="0" err="1"/>
              <a:t>student_id</a:t>
            </a:r>
            <a:r>
              <a:rPr lang="en-US" dirty="0"/>
              <a:t>, </a:t>
            </a:r>
            <a:r>
              <a:rPr lang="en-US" dirty="0" err="1"/>
              <a:t>course_id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1451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437FB-1D44-64AB-9472-F4C093E9D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Second Normal Form (2NF)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43680-C7D8-334C-A501-474BE8C2C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47500" lnSpcReduction="20000"/>
          </a:bodyPr>
          <a:lstStyle/>
          <a:p>
            <a:pPr marL="0" indent="0" latinLnBrk="1">
              <a:buNone/>
            </a:pPr>
            <a:r>
              <a:rPr lang="en-US" i="1" dirty="0"/>
              <a:t>-- ✅ SATISFIES 2NF</a:t>
            </a:r>
            <a:endParaRPr lang="en-US" dirty="0"/>
          </a:p>
          <a:p>
            <a:pPr marL="0" indent="0" latinLnBrk="1">
              <a:buNone/>
            </a:pPr>
            <a:r>
              <a:rPr lang="en-US" dirty="0"/>
              <a:t>CREATE TABLE students (</a:t>
            </a:r>
          </a:p>
          <a:p>
            <a:pPr marL="0" indent="0" latinLnBrk="1">
              <a:buNone/>
            </a:pPr>
            <a:r>
              <a:rPr lang="en-US" dirty="0"/>
              <a:t>    </a:t>
            </a:r>
            <a:r>
              <a:rPr lang="en-US" dirty="0" err="1"/>
              <a:t>student_id</a:t>
            </a:r>
            <a:r>
              <a:rPr lang="en-US" dirty="0"/>
              <a:t> INT PRIMARY KEY,</a:t>
            </a:r>
          </a:p>
          <a:p>
            <a:pPr marL="0" indent="0" latinLnBrk="1">
              <a:buNone/>
            </a:pPr>
            <a:r>
              <a:rPr lang="en-US" dirty="0"/>
              <a:t>    </a:t>
            </a:r>
            <a:r>
              <a:rPr lang="en-US" dirty="0" err="1"/>
              <a:t>student_name</a:t>
            </a:r>
            <a:r>
              <a:rPr lang="en-US" dirty="0"/>
              <a:t> VARCHAR(100)</a:t>
            </a:r>
          </a:p>
          <a:p>
            <a:pPr marL="0" indent="0" latinLnBrk="1">
              <a:buNone/>
            </a:pPr>
            <a:r>
              <a:rPr lang="en-US" dirty="0"/>
              <a:t>);</a:t>
            </a:r>
          </a:p>
          <a:p>
            <a:pPr marL="0" indent="0" latinLnBrk="1">
              <a:buNone/>
            </a:pPr>
            <a:endParaRPr lang="en-US" dirty="0"/>
          </a:p>
          <a:p>
            <a:pPr marL="0" indent="0" latinLnBrk="1">
              <a:buNone/>
            </a:pPr>
            <a:r>
              <a:rPr lang="en-US" dirty="0"/>
              <a:t>CREATE TABLE courses (</a:t>
            </a:r>
          </a:p>
          <a:p>
            <a:pPr marL="0" indent="0" latinLnBrk="1">
              <a:buNone/>
            </a:pPr>
            <a:r>
              <a:rPr lang="en-US" dirty="0"/>
              <a:t>    </a:t>
            </a:r>
            <a:r>
              <a:rPr lang="en-US" dirty="0" err="1"/>
              <a:t>course_id</a:t>
            </a:r>
            <a:r>
              <a:rPr lang="en-US" dirty="0"/>
              <a:t> VARCHAR(10) PRIMARY KEY,</a:t>
            </a:r>
          </a:p>
          <a:p>
            <a:pPr marL="0" indent="0" latinLnBrk="1">
              <a:buNone/>
            </a:pPr>
            <a:r>
              <a:rPr lang="en-US" dirty="0"/>
              <a:t>    </a:t>
            </a:r>
            <a:r>
              <a:rPr lang="en-US" dirty="0" err="1"/>
              <a:t>course_name</a:t>
            </a:r>
            <a:r>
              <a:rPr lang="en-US" dirty="0"/>
              <a:t> VARCHAR(100)</a:t>
            </a:r>
          </a:p>
          <a:p>
            <a:pPr marL="0" indent="0" latinLnBrk="1">
              <a:buNone/>
            </a:pPr>
            <a:r>
              <a:rPr lang="en-US" dirty="0"/>
              <a:t>);</a:t>
            </a:r>
          </a:p>
          <a:p>
            <a:pPr marL="0" indent="0" latinLnBrk="1">
              <a:buNone/>
            </a:pPr>
            <a:endParaRPr lang="en-US" dirty="0"/>
          </a:p>
          <a:p>
            <a:pPr marL="0" indent="0" latinLnBrk="1">
              <a:buNone/>
            </a:pPr>
            <a:r>
              <a:rPr lang="en-US" dirty="0"/>
              <a:t>CREATE TABLE enrollments (</a:t>
            </a:r>
          </a:p>
          <a:p>
            <a:pPr marL="0" indent="0" latinLnBrk="1">
              <a:buNone/>
            </a:pPr>
            <a:r>
              <a:rPr lang="en-US" dirty="0"/>
              <a:t>    </a:t>
            </a:r>
            <a:r>
              <a:rPr lang="en-US" dirty="0" err="1"/>
              <a:t>student_id</a:t>
            </a:r>
            <a:r>
              <a:rPr lang="en-US" dirty="0"/>
              <a:t> INT,</a:t>
            </a:r>
          </a:p>
          <a:p>
            <a:pPr marL="0" indent="0" latinLnBrk="1">
              <a:buNone/>
            </a:pPr>
            <a:r>
              <a:rPr lang="en-US" dirty="0"/>
              <a:t>    </a:t>
            </a:r>
            <a:r>
              <a:rPr lang="en-US" dirty="0" err="1"/>
              <a:t>course_id</a:t>
            </a:r>
            <a:r>
              <a:rPr lang="en-US" dirty="0"/>
              <a:t> VARCHAR(10),</a:t>
            </a:r>
          </a:p>
          <a:p>
            <a:pPr marL="0" indent="0" latinLnBrk="1">
              <a:buNone/>
            </a:pPr>
            <a:r>
              <a:rPr lang="en-US" dirty="0"/>
              <a:t>    grade CHAR(1),  </a:t>
            </a:r>
            <a:r>
              <a:rPr lang="en-US" i="1" dirty="0"/>
              <a:t>-- Only attributes that depend on FULL key</a:t>
            </a:r>
            <a:endParaRPr lang="en-US" dirty="0"/>
          </a:p>
          <a:p>
            <a:pPr marL="0" indent="0" latinLnBrk="1">
              <a:buNone/>
            </a:pPr>
            <a:r>
              <a:rPr lang="en-US" dirty="0"/>
              <a:t>    PRIMARY KEY (</a:t>
            </a:r>
            <a:r>
              <a:rPr lang="en-US" dirty="0" err="1"/>
              <a:t>student_id</a:t>
            </a:r>
            <a:r>
              <a:rPr lang="en-US" dirty="0"/>
              <a:t>, </a:t>
            </a:r>
            <a:r>
              <a:rPr lang="en-US" dirty="0" err="1"/>
              <a:t>course_id</a:t>
            </a:r>
            <a:r>
              <a:rPr lang="en-US" dirty="0"/>
              <a:t>),</a:t>
            </a:r>
          </a:p>
          <a:p>
            <a:pPr marL="0" indent="0" latinLnBrk="1">
              <a:buNone/>
            </a:pPr>
            <a:r>
              <a:rPr lang="en-US" dirty="0"/>
              <a:t>    FOREIGN KEY (</a:t>
            </a:r>
            <a:r>
              <a:rPr lang="en-US" dirty="0" err="1"/>
              <a:t>student_id</a:t>
            </a:r>
            <a:r>
              <a:rPr lang="en-US" dirty="0"/>
              <a:t>) REFERENCES students(</a:t>
            </a:r>
            <a:r>
              <a:rPr lang="en-US" dirty="0" err="1"/>
              <a:t>student_id</a:t>
            </a:r>
            <a:r>
              <a:rPr lang="en-US" dirty="0"/>
              <a:t>),</a:t>
            </a:r>
          </a:p>
          <a:p>
            <a:pPr marL="0" indent="0" latinLnBrk="1">
              <a:buNone/>
            </a:pPr>
            <a:r>
              <a:rPr lang="en-US" dirty="0"/>
              <a:t>    FOREIGN KEY (</a:t>
            </a:r>
            <a:r>
              <a:rPr lang="en-US" dirty="0" err="1"/>
              <a:t>course_id</a:t>
            </a:r>
            <a:r>
              <a:rPr lang="en-US" dirty="0"/>
              <a:t>) REFERENCES courses(</a:t>
            </a:r>
            <a:r>
              <a:rPr lang="en-US" dirty="0" err="1"/>
              <a:t>course_id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2478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EB711-BBB4-93A7-EF98-A84B41EBC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Second Normal Form (2NF)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A323E9-AECF-811D-9A37-07D15851D7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Key Takeaway:</a:t>
            </a:r>
            <a:r>
              <a:rPr lang="en-US" dirty="0"/>
              <a:t> "Non-key columns must depend on the WHOLE key"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ADD0F1-571E-2269-B2B0-E44C01A922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9501" y="3132618"/>
            <a:ext cx="5773506" cy="2975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8337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89802-B8BC-C577-2F9D-61D2AA8B3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Third Normal Form (3NF)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B6D1D-845A-53C4-6DE3-E901FE660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5526639" cy="3318936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Rule:</a:t>
            </a:r>
            <a:r>
              <a:rPr lang="en-US" dirty="0"/>
              <a:t> "No transitive dependencies"</a:t>
            </a:r>
          </a:p>
          <a:p>
            <a:r>
              <a:rPr lang="en-US" b="1" dirty="0"/>
              <a:t>Definition:</a:t>
            </a:r>
            <a:r>
              <a:rPr lang="en-US" dirty="0"/>
              <a:t> A → B → C (C depends on A through B)</a:t>
            </a:r>
          </a:p>
          <a:p>
            <a:pPr marL="0" indent="0" latinLnBrk="1">
              <a:buNone/>
            </a:pPr>
            <a:r>
              <a:rPr lang="en-US" dirty="0"/>
              <a:t>CREATE TABLE students (</a:t>
            </a:r>
          </a:p>
          <a:p>
            <a:pPr marL="0" indent="0" latinLnBrk="1">
              <a:buNone/>
            </a:pPr>
            <a:r>
              <a:rPr lang="en-US" dirty="0"/>
              <a:t>    </a:t>
            </a:r>
            <a:r>
              <a:rPr lang="en-US" dirty="0" err="1"/>
              <a:t>student_id</a:t>
            </a:r>
            <a:r>
              <a:rPr lang="en-US" dirty="0"/>
              <a:t> INT PRIMARY KEY,</a:t>
            </a:r>
          </a:p>
          <a:p>
            <a:pPr marL="0" indent="0" latinLnBrk="1">
              <a:buNone/>
            </a:pPr>
            <a:r>
              <a:rPr lang="en-US" dirty="0"/>
              <a:t>    name VARCHAR(100),</a:t>
            </a:r>
          </a:p>
          <a:p>
            <a:pPr marL="0" indent="0" latinLnBrk="1">
              <a:buNone/>
            </a:pPr>
            <a:r>
              <a:rPr lang="en-US" dirty="0"/>
              <a:t>    </a:t>
            </a:r>
            <a:r>
              <a:rPr lang="en-US" dirty="0" err="1"/>
              <a:t>dept_id</a:t>
            </a:r>
            <a:r>
              <a:rPr lang="en-US" dirty="0"/>
              <a:t> INT,</a:t>
            </a:r>
          </a:p>
          <a:p>
            <a:pPr marL="0" indent="0" latinLnBrk="1">
              <a:buNone/>
            </a:pPr>
            <a:r>
              <a:rPr lang="en-US" dirty="0"/>
              <a:t>    </a:t>
            </a:r>
            <a:r>
              <a:rPr lang="en-US" dirty="0" err="1"/>
              <a:t>dept_name</a:t>
            </a:r>
            <a:r>
              <a:rPr lang="en-US" dirty="0"/>
              <a:t> VARCHAR(100),    </a:t>
            </a:r>
            <a:r>
              <a:rPr lang="en-US" i="1" dirty="0"/>
              <a:t>-- ❌ Transitive dependency!</a:t>
            </a:r>
            <a:endParaRPr lang="en-US" dirty="0"/>
          </a:p>
          <a:p>
            <a:pPr marL="0" indent="0" latinLnBrk="1">
              <a:buNone/>
            </a:pPr>
            <a:r>
              <a:rPr lang="en-US" dirty="0"/>
              <a:t>    </a:t>
            </a:r>
            <a:r>
              <a:rPr lang="en-US" dirty="0" err="1"/>
              <a:t>dept_building</a:t>
            </a:r>
            <a:r>
              <a:rPr lang="en-US" dirty="0"/>
              <a:t> VARCHAR(100)  </a:t>
            </a:r>
            <a:r>
              <a:rPr lang="en-US" i="1" dirty="0"/>
              <a:t>-- ❌ Transitive dependency!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);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0195F7-9516-1ECB-8DA7-3C6613567D2B}"/>
              </a:ext>
            </a:extLst>
          </p:cNvPr>
          <p:cNvSpPr txBox="1"/>
          <p:nvPr/>
        </p:nvSpPr>
        <p:spPr>
          <a:xfrm>
            <a:off x="7058345" y="2967335"/>
            <a:ext cx="374416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1"/>
            <a:r>
              <a:rPr lang="en-US" dirty="0" err="1"/>
              <a:t>student_id</a:t>
            </a:r>
            <a:r>
              <a:rPr lang="en-US" dirty="0"/>
              <a:t> → </a:t>
            </a:r>
            <a:r>
              <a:rPr lang="en-US" dirty="0" err="1"/>
              <a:t>dept_id</a:t>
            </a:r>
            <a:r>
              <a:rPr lang="en-US" dirty="0"/>
              <a:t> → </a:t>
            </a:r>
            <a:r>
              <a:rPr lang="en-US" dirty="0" err="1"/>
              <a:t>dept_name</a:t>
            </a:r>
            <a:endParaRPr lang="en-US" dirty="0"/>
          </a:p>
          <a:p>
            <a:pPr latinLnBrk="1"/>
            <a:r>
              <a:rPr lang="en-US" dirty="0" err="1"/>
              <a:t>student_id</a:t>
            </a:r>
            <a:r>
              <a:rPr lang="en-US" dirty="0"/>
              <a:t> → </a:t>
            </a:r>
            <a:r>
              <a:rPr lang="en-US" dirty="0" err="1"/>
              <a:t>dept_id</a:t>
            </a:r>
            <a:r>
              <a:rPr lang="en-US" dirty="0"/>
              <a:t> → </a:t>
            </a:r>
            <a:r>
              <a:rPr lang="en-US" dirty="0" err="1"/>
              <a:t>dept_building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05195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ACDB5-EC4F-FBEB-B8F4-03611DA96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Third Normal Form (3NF)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A7235-D5C9-C552-7AA8-C56041774E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Key Takeaway:</a:t>
            </a:r>
            <a:r>
              <a:rPr lang="en-US" dirty="0"/>
              <a:t> "Non-key columns must depend ONLY on the key, not on other non-key columns"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A2FACB-EFCC-1081-8C83-2698976E03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101" y="3518041"/>
            <a:ext cx="8967094" cy="2173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5587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5DD62-55A8-DD6F-8B9B-BA029B171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The Normal Forms Cheat Sheet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210341-D859-8564-3231-D287C8AA1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64F47B-67E1-FC8F-5E92-8A075E406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5238" y="2556931"/>
            <a:ext cx="6260361" cy="3318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9263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55972-25CE-28F5-04FB-5D71CAFB0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BCNF (Boyce-Codd Normal Form)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CFBB6-64BB-99F4-7189-D3AEA72B7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6780087" cy="504767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Rule:</a:t>
            </a:r>
            <a:r>
              <a:rPr lang="en-US" dirty="0"/>
              <a:t> "Every determinant must be a candidate key”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13859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71E0E-71C1-1B0B-9F26-3B8BAC18D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2CB58-5E7B-15ED-2177-8DCB42E5B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BCNF (Boyce-Codd Normal Form)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90286C-A1E8-88B1-E1D3-8C29174ACC38}"/>
              </a:ext>
            </a:extLst>
          </p:cNvPr>
          <p:cNvSpPr txBox="1"/>
          <p:nvPr/>
        </p:nvSpPr>
        <p:spPr>
          <a:xfrm>
            <a:off x="1295402" y="2607541"/>
            <a:ext cx="10304122" cy="3046988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latinLnBrk="1"/>
            <a:r>
              <a:rPr lang="en-US" sz="1200" i="1" dirty="0"/>
              <a:t>-- Example: Course scheduling</a:t>
            </a:r>
            <a:endParaRPr lang="en-US" sz="1200" dirty="0"/>
          </a:p>
          <a:p>
            <a:pPr latinLnBrk="1"/>
            <a:r>
              <a:rPr lang="en-US" sz="1200" dirty="0"/>
              <a:t>CREATE TABLE teaching (</a:t>
            </a:r>
          </a:p>
          <a:p>
            <a:pPr latinLnBrk="1"/>
            <a:r>
              <a:rPr lang="en-US" sz="1200" dirty="0"/>
              <a:t>    professor VARCHAR(100),</a:t>
            </a:r>
          </a:p>
          <a:p>
            <a:pPr latinLnBrk="1"/>
            <a:r>
              <a:rPr lang="en-US" sz="1200" dirty="0"/>
              <a:t>    course VARCHAR(100),</a:t>
            </a:r>
          </a:p>
          <a:p>
            <a:pPr latinLnBrk="1"/>
            <a:r>
              <a:rPr lang="en-US" sz="1200" dirty="0"/>
              <a:t>    textbook VARCHAR(100),</a:t>
            </a:r>
          </a:p>
          <a:p>
            <a:pPr latinLnBrk="1"/>
            <a:r>
              <a:rPr lang="en-US" sz="1200" dirty="0"/>
              <a:t>    PRIMARY KEY (professor, course)</a:t>
            </a:r>
          </a:p>
          <a:p>
            <a:pPr latinLnBrk="1"/>
            <a:r>
              <a:rPr lang="en-US" sz="1200" dirty="0"/>
              <a:t>);</a:t>
            </a:r>
          </a:p>
          <a:p>
            <a:pPr latinLnBrk="1"/>
            <a:endParaRPr lang="en-US" sz="1200" dirty="0"/>
          </a:p>
          <a:p>
            <a:pPr latinLnBrk="1"/>
            <a:r>
              <a:rPr lang="en-US" sz="1200" i="1" dirty="0"/>
              <a:t>-- Constraint: Each course uses only one textbook</a:t>
            </a:r>
            <a:endParaRPr lang="en-US" sz="1200" dirty="0"/>
          </a:p>
          <a:p>
            <a:pPr latinLnBrk="1"/>
            <a:r>
              <a:rPr lang="en-US" sz="1200" i="1" dirty="0"/>
              <a:t>-- course → textbook (but course is not a candidate key!)</a:t>
            </a:r>
            <a:endParaRPr lang="en-US" sz="1200" dirty="0"/>
          </a:p>
          <a:p>
            <a:pPr latinLnBrk="1"/>
            <a:endParaRPr lang="en-US" sz="1200" dirty="0"/>
          </a:p>
          <a:p>
            <a:pPr latinLnBrk="1"/>
            <a:r>
              <a:rPr lang="en-US" sz="1200" dirty="0"/>
              <a:t>Dependencies:</a:t>
            </a:r>
          </a:p>
          <a:p>
            <a:pPr latinLnBrk="1"/>
            <a:r>
              <a:rPr lang="en-US" sz="1200" dirty="0"/>
              <a:t>  (professor, course) → textbook  ✅</a:t>
            </a:r>
          </a:p>
          <a:p>
            <a:pPr latinLnBrk="1"/>
            <a:r>
              <a:rPr lang="en-US" sz="1200" dirty="0"/>
              <a:t>  course → textbook               ❌ course alone determines textbook</a:t>
            </a:r>
          </a:p>
          <a:p>
            <a:r>
              <a:rPr lang="en-US" sz="1200" dirty="0"/>
              <a:t>                                     but course is NOT a candidate key!</a:t>
            </a: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580385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91832-9D4C-9FDA-7714-636B2FC6A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When Normalization Hurts Performance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736E9-8A3C-51D8-4355-E4E159425F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4530046" cy="3318936"/>
          </a:xfrm>
        </p:spPr>
        <p:txBody>
          <a:bodyPr>
            <a:normAutofit fontScale="40000" lnSpcReduction="20000"/>
          </a:bodyPr>
          <a:lstStyle/>
          <a:p>
            <a:pPr marL="0" indent="0" latinLnBrk="1">
              <a:buNone/>
            </a:pPr>
            <a:r>
              <a:rPr lang="en-US" i="1" dirty="0"/>
              <a:t>-- Normalized (3NF):</a:t>
            </a:r>
            <a:endParaRPr lang="en-US" dirty="0"/>
          </a:p>
          <a:p>
            <a:pPr marL="0" indent="0" latinLnBrk="1">
              <a:buNone/>
            </a:pPr>
            <a:r>
              <a:rPr lang="en-US" dirty="0"/>
              <a:t>SELECT </a:t>
            </a:r>
          </a:p>
          <a:p>
            <a:pPr marL="0" indent="0" latinLnBrk="1">
              <a:buNone/>
            </a:pPr>
            <a:r>
              <a:rPr lang="en-US" dirty="0"/>
              <a:t>    </a:t>
            </a:r>
            <a:r>
              <a:rPr lang="en-US" dirty="0" err="1"/>
              <a:t>s.name</a:t>
            </a:r>
            <a:r>
              <a:rPr lang="en-US" dirty="0"/>
              <a:t>,</a:t>
            </a:r>
          </a:p>
          <a:p>
            <a:pPr marL="0" indent="0" latinLnBrk="1">
              <a:buNone/>
            </a:pPr>
            <a:r>
              <a:rPr lang="en-US" dirty="0"/>
              <a:t>    </a:t>
            </a:r>
            <a:r>
              <a:rPr lang="en-US" dirty="0" err="1"/>
              <a:t>c.course_name</a:t>
            </a:r>
            <a:r>
              <a:rPr lang="en-US" dirty="0"/>
              <a:t>,</a:t>
            </a:r>
          </a:p>
          <a:p>
            <a:pPr marL="0" indent="0" latinLnBrk="1">
              <a:buNone/>
            </a:pPr>
            <a:r>
              <a:rPr lang="en-US" dirty="0"/>
              <a:t>    </a:t>
            </a:r>
            <a:r>
              <a:rPr lang="en-US" dirty="0" err="1"/>
              <a:t>i.instructor_name</a:t>
            </a:r>
            <a:r>
              <a:rPr lang="en-US" dirty="0"/>
              <a:t>,</a:t>
            </a:r>
          </a:p>
          <a:p>
            <a:pPr marL="0" indent="0" latinLnBrk="1">
              <a:buNone/>
            </a:pPr>
            <a:r>
              <a:rPr lang="en-US" dirty="0"/>
              <a:t>    </a:t>
            </a:r>
            <a:r>
              <a:rPr lang="en-US" dirty="0" err="1"/>
              <a:t>d.dept_name</a:t>
            </a:r>
            <a:endParaRPr lang="en-US" dirty="0"/>
          </a:p>
          <a:p>
            <a:pPr marL="0" indent="0" latinLnBrk="1">
              <a:buNone/>
            </a:pPr>
            <a:r>
              <a:rPr lang="en-US" dirty="0"/>
              <a:t>FROM students s</a:t>
            </a:r>
          </a:p>
          <a:p>
            <a:pPr marL="0" indent="0" latinLnBrk="1">
              <a:buNone/>
            </a:pPr>
            <a:r>
              <a:rPr lang="en-US" dirty="0"/>
              <a:t>JOIN enrollments e ON </a:t>
            </a:r>
            <a:r>
              <a:rPr lang="en-US" dirty="0" err="1"/>
              <a:t>s.student_id</a:t>
            </a:r>
            <a:r>
              <a:rPr lang="en-US" dirty="0"/>
              <a:t> = </a:t>
            </a:r>
            <a:r>
              <a:rPr lang="en-US" dirty="0" err="1"/>
              <a:t>e.student_id</a:t>
            </a:r>
            <a:endParaRPr lang="en-US" dirty="0"/>
          </a:p>
          <a:p>
            <a:pPr marL="0" indent="0" latinLnBrk="1">
              <a:buNone/>
            </a:pPr>
            <a:r>
              <a:rPr lang="en-US" dirty="0"/>
              <a:t>JOIN courses c ON </a:t>
            </a:r>
            <a:r>
              <a:rPr lang="en-US" dirty="0" err="1"/>
              <a:t>e.course_id</a:t>
            </a:r>
            <a:r>
              <a:rPr lang="en-US" dirty="0"/>
              <a:t> = </a:t>
            </a:r>
            <a:r>
              <a:rPr lang="en-US" dirty="0" err="1"/>
              <a:t>c.course_id</a:t>
            </a:r>
            <a:endParaRPr lang="en-US" dirty="0"/>
          </a:p>
          <a:p>
            <a:pPr marL="0" indent="0" latinLnBrk="1">
              <a:buNone/>
            </a:pPr>
            <a:r>
              <a:rPr lang="en-US" dirty="0"/>
              <a:t>JOIN instructors </a:t>
            </a:r>
            <a:r>
              <a:rPr lang="en-US" dirty="0" err="1"/>
              <a:t>i</a:t>
            </a:r>
            <a:r>
              <a:rPr lang="en-US" dirty="0"/>
              <a:t> ON </a:t>
            </a:r>
            <a:r>
              <a:rPr lang="en-US" dirty="0" err="1"/>
              <a:t>c.instructor_id</a:t>
            </a:r>
            <a:r>
              <a:rPr lang="en-US" dirty="0"/>
              <a:t> = </a:t>
            </a:r>
            <a:r>
              <a:rPr lang="en-US" dirty="0" err="1"/>
              <a:t>i.instructor_id</a:t>
            </a:r>
            <a:endParaRPr lang="en-US" dirty="0"/>
          </a:p>
          <a:p>
            <a:pPr marL="0" indent="0" latinLnBrk="1">
              <a:buNone/>
            </a:pPr>
            <a:r>
              <a:rPr lang="en-US" dirty="0"/>
              <a:t>JOIN departments d ON </a:t>
            </a:r>
            <a:r>
              <a:rPr lang="en-US" dirty="0" err="1"/>
              <a:t>i.dept_id</a:t>
            </a:r>
            <a:r>
              <a:rPr lang="en-US" dirty="0"/>
              <a:t> = </a:t>
            </a:r>
            <a:r>
              <a:rPr lang="en-US" dirty="0" err="1"/>
              <a:t>d.dept_id</a:t>
            </a:r>
            <a:endParaRPr lang="en-US" dirty="0"/>
          </a:p>
          <a:p>
            <a:pPr marL="0" indent="0" latinLnBrk="1">
              <a:buNone/>
            </a:pPr>
            <a:r>
              <a:rPr lang="en-US" dirty="0"/>
              <a:t>WHERE </a:t>
            </a:r>
            <a:r>
              <a:rPr lang="en-US" dirty="0" err="1"/>
              <a:t>s.student_id</a:t>
            </a:r>
            <a:r>
              <a:rPr lang="en-US" dirty="0"/>
              <a:t> = 1;</a:t>
            </a:r>
          </a:p>
          <a:p>
            <a:pPr marL="0" indent="0" latinLnBrk="1">
              <a:buNone/>
            </a:pPr>
            <a:endParaRPr lang="en-US" dirty="0"/>
          </a:p>
          <a:p>
            <a:pPr marL="0" indent="0">
              <a:buNone/>
            </a:pPr>
            <a:r>
              <a:rPr lang="en-US" i="1" dirty="0"/>
              <a:t>-- 4 JOINs needed! 😰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CF2CFB-F9C6-7ABE-5467-9150FCDC763B}"/>
              </a:ext>
            </a:extLst>
          </p:cNvPr>
          <p:cNvSpPr txBox="1"/>
          <p:nvPr/>
        </p:nvSpPr>
        <p:spPr>
          <a:xfrm>
            <a:off x="6366555" y="2576147"/>
            <a:ext cx="3550972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1"/>
            <a:r>
              <a:rPr lang="en-US" i="1" dirty="0"/>
              <a:t>-- Denormalized:</a:t>
            </a:r>
            <a:endParaRPr lang="en-US" dirty="0"/>
          </a:p>
          <a:p>
            <a:pPr latinLnBrk="1"/>
            <a:r>
              <a:rPr lang="en-US" dirty="0"/>
              <a:t>SELECT </a:t>
            </a:r>
          </a:p>
          <a:p>
            <a:pPr latinLnBrk="1"/>
            <a:r>
              <a:rPr lang="en-US" dirty="0"/>
              <a:t>    name,</a:t>
            </a:r>
          </a:p>
          <a:p>
            <a:pPr latinLnBrk="1"/>
            <a:r>
              <a:rPr lang="en-US" dirty="0"/>
              <a:t>    </a:t>
            </a:r>
            <a:r>
              <a:rPr lang="en-US" dirty="0" err="1"/>
              <a:t>course_name</a:t>
            </a:r>
            <a:r>
              <a:rPr lang="en-US" dirty="0"/>
              <a:t>,</a:t>
            </a:r>
          </a:p>
          <a:p>
            <a:pPr latinLnBrk="1"/>
            <a:r>
              <a:rPr lang="en-US" dirty="0"/>
              <a:t>    </a:t>
            </a:r>
            <a:r>
              <a:rPr lang="en-US" dirty="0" err="1"/>
              <a:t>instructor_name</a:t>
            </a:r>
            <a:r>
              <a:rPr lang="en-US" dirty="0"/>
              <a:t>,</a:t>
            </a:r>
          </a:p>
          <a:p>
            <a:pPr latinLnBrk="1"/>
            <a:r>
              <a:rPr lang="en-US" dirty="0"/>
              <a:t>    </a:t>
            </a:r>
            <a:r>
              <a:rPr lang="en-US" dirty="0" err="1"/>
              <a:t>dept_name</a:t>
            </a:r>
            <a:endParaRPr lang="en-US" dirty="0"/>
          </a:p>
          <a:p>
            <a:pPr latinLnBrk="1"/>
            <a:r>
              <a:rPr lang="en-US" dirty="0"/>
              <a:t>FROM </a:t>
            </a:r>
            <a:r>
              <a:rPr lang="en-US" dirty="0" err="1"/>
              <a:t>student_course_view</a:t>
            </a:r>
            <a:endParaRPr lang="en-US" dirty="0"/>
          </a:p>
          <a:p>
            <a:pPr latinLnBrk="1"/>
            <a:r>
              <a:rPr lang="en-US" dirty="0"/>
              <a:t>WHERE </a:t>
            </a:r>
            <a:r>
              <a:rPr lang="en-US" dirty="0" err="1"/>
              <a:t>student_id</a:t>
            </a:r>
            <a:r>
              <a:rPr lang="en-US" dirty="0"/>
              <a:t> = 1;</a:t>
            </a:r>
          </a:p>
          <a:p>
            <a:pPr latinLnBrk="1"/>
            <a:endParaRPr lang="en-US" dirty="0"/>
          </a:p>
          <a:p>
            <a:pPr latinLnBrk="1"/>
            <a:r>
              <a:rPr lang="en-US" i="1" dirty="0"/>
              <a:t>-- No JOINs! 🎉</a:t>
            </a:r>
            <a:endParaRPr lang="en-US" dirty="0"/>
          </a:p>
          <a:p>
            <a:r>
              <a:rPr lang="en-US" i="1" dirty="0"/>
              <a:t>-- But: Data duplication, update complexity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3088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B5018-A5ED-30F3-4C43-27BB6B2CC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C027B-8E7A-F533-E234-37F484DF6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When Normalization Hurts Performance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02A33-41BA-51FD-9D14-ED0B66DA08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4530046" cy="3318936"/>
          </a:xfrm>
        </p:spPr>
        <p:txBody>
          <a:bodyPr>
            <a:normAutofit fontScale="40000" lnSpcReduction="20000"/>
          </a:bodyPr>
          <a:lstStyle/>
          <a:p>
            <a:pPr latinLnBrk="1">
              <a:buFont typeface="Wingdings" pitchFamily="2" charset="2"/>
              <a:buChar char="n"/>
            </a:pPr>
            <a:r>
              <a:rPr lang="en-US" i="1" dirty="0"/>
              <a:t>Normalized (3NF):</a:t>
            </a:r>
          </a:p>
          <a:p>
            <a:pPr latinLnBrk="1">
              <a:buFont typeface="Wingdings" pitchFamily="2" charset="2"/>
              <a:buChar char="n"/>
            </a:pPr>
            <a:r>
              <a:rPr lang="en-US" dirty="0"/>
              <a:t>Create view </a:t>
            </a:r>
            <a:r>
              <a:rPr lang="en-US" dirty="0" err="1"/>
              <a:t>student_course_view</a:t>
            </a:r>
            <a:r>
              <a:rPr lang="en-US" dirty="0"/>
              <a:t> as (</a:t>
            </a:r>
          </a:p>
          <a:p>
            <a:pPr marL="0" indent="0" latinLnBrk="1">
              <a:buNone/>
            </a:pPr>
            <a:r>
              <a:rPr lang="en-US" dirty="0"/>
              <a:t>SELECT </a:t>
            </a:r>
          </a:p>
          <a:p>
            <a:pPr marL="0" indent="0" latinLnBrk="1">
              <a:buNone/>
            </a:pPr>
            <a:r>
              <a:rPr lang="en-US" dirty="0"/>
              <a:t>    </a:t>
            </a:r>
            <a:r>
              <a:rPr lang="en-US" dirty="0" err="1"/>
              <a:t>s.name</a:t>
            </a:r>
            <a:r>
              <a:rPr lang="en-US" dirty="0"/>
              <a:t>,</a:t>
            </a:r>
          </a:p>
          <a:p>
            <a:pPr marL="0" indent="0" latinLnBrk="1">
              <a:buNone/>
            </a:pPr>
            <a:r>
              <a:rPr lang="en-US" dirty="0"/>
              <a:t>    </a:t>
            </a:r>
            <a:r>
              <a:rPr lang="en-US" dirty="0" err="1"/>
              <a:t>c.course_name</a:t>
            </a:r>
            <a:r>
              <a:rPr lang="en-US" dirty="0"/>
              <a:t>,</a:t>
            </a:r>
          </a:p>
          <a:p>
            <a:pPr marL="0" indent="0" latinLnBrk="1">
              <a:buNone/>
            </a:pPr>
            <a:r>
              <a:rPr lang="en-US" dirty="0"/>
              <a:t>    </a:t>
            </a:r>
            <a:r>
              <a:rPr lang="en-US" dirty="0" err="1"/>
              <a:t>i.instructor_name</a:t>
            </a:r>
            <a:r>
              <a:rPr lang="en-US" dirty="0"/>
              <a:t>,</a:t>
            </a:r>
          </a:p>
          <a:p>
            <a:pPr marL="0" indent="0" latinLnBrk="1">
              <a:buNone/>
            </a:pPr>
            <a:r>
              <a:rPr lang="en-US" dirty="0"/>
              <a:t>    </a:t>
            </a:r>
            <a:r>
              <a:rPr lang="en-US" dirty="0" err="1"/>
              <a:t>d.dept_name</a:t>
            </a:r>
            <a:endParaRPr lang="en-US" dirty="0"/>
          </a:p>
          <a:p>
            <a:pPr marL="0" indent="0" latinLnBrk="1">
              <a:buNone/>
            </a:pPr>
            <a:r>
              <a:rPr lang="en-US" dirty="0"/>
              <a:t>FROM students s</a:t>
            </a:r>
          </a:p>
          <a:p>
            <a:pPr marL="0" indent="0" latinLnBrk="1">
              <a:buNone/>
            </a:pPr>
            <a:r>
              <a:rPr lang="en-US" dirty="0"/>
              <a:t>JOIN enrollments e ON </a:t>
            </a:r>
            <a:r>
              <a:rPr lang="en-US" dirty="0" err="1"/>
              <a:t>s.student_id</a:t>
            </a:r>
            <a:r>
              <a:rPr lang="en-US" dirty="0"/>
              <a:t> = </a:t>
            </a:r>
            <a:r>
              <a:rPr lang="en-US" dirty="0" err="1"/>
              <a:t>e.student_id</a:t>
            </a:r>
            <a:endParaRPr lang="en-US" dirty="0"/>
          </a:p>
          <a:p>
            <a:pPr marL="0" indent="0" latinLnBrk="1">
              <a:buNone/>
            </a:pPr>
            <a:r>
              <a:rPr lang="en-US" dirty="0"/>
              <a:t>JOIN courses c ON </a:t>
            </a:r>
            <a:r>
              <a:rPr lang="en-US" dirty="0" err="1"/>
              <a:t>e.course_id</a:t>
            </a:r>
            <a:r>
              <a:rPr lang="en-US" dirty="0"/>
              <a:t> = </a:t>
            </a:r>
            <a:r>
              <a:rPr lang="en-US" dirty="0" err="1"/>
              <a:t>c.course_id</a:t>
            </a:r>
            <a:endParaRPr lang="en-US" dirty="0"/>
          </a:p>
          <a:p>
            <a:pPr marL="0" indent="0" latinLnBrk="1">
              <a:buNone/>
            </a:pPr>
            <a:r>
              <a:rPr lang="en-US" dirty="0"/>
              <a:t>JOIN instructors </a:t>
            </a:r>
            <a:r>
              <a:rPr lang="en-US" dirty="0" err="1"/>
              <a:t>i</a:t>
            </a:r>
            <a:r>
              <a:rPr lang="en-US" dirty="0"/>
              <a:t> ON </a:t>
            </a:r>
            <a:r>
              <a:rPr lang="en-US" dirty="0" err="1"/>
              <a:t>c.instructor_id</a:t>
            </a:r>
            <a:r>
              <a:rPr lang="en-US" dirty="0"/>
              <a:t> = </a:t>
            </a:r>
            <a:r>
              <a:rPr lang="en-US" dirty="0" err="1"/>
              <a:t>i.instructor_id</a:t>
            </a:r>
            <a:endParaRPr lang="en-US" dirty="0"/>
          </a:p>
          <a:p>
            <a:pPr marL="0" indent="0" latinLnBrk="1">
              <a:buNone/>
            </a:pPr>
            <a:r>
              <a:rPr lang="en-US" dirty="0"/>
              <a:t>JOIN departments d ON </a:t>
            </a:r>
            <a:r>
              <a:rPr lang="en-US" dirty="0" err="1"/>
              <a:t>i.dept_id</a:t>
            </a:r>
            <a:r>
              <a:rPr lang="en-US" dirty="0"/>
              <a:t> = </a:t>
            </a:r>
            <a:r>
              <a:rPr lang="en-US" dirty="0" err="1"/>
              <a:t>d.dept_id</a:t>
            </a:r>
            <a:endParaRPr lang="en-US" dirty="0"/>
          </a:p>
          <a:p>
            <a:pPr marL="0" indent="0" latinLnBrk="1">
              <a:buNone/>
            </a:pP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i="1" dirty="0"/>
              <a:t>-- 4 JOINs needed! 😰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709222-79BA-5ABD-AEB3-D909F5013094}"/>
              </a:ext>
            </a:extLst>
          </p:cNvPr>
          <p:cNvSpPr txBox="1"/>
          <p:nvPr/>
        </p:nvSpPr>
        <p:spPr>
          <a:xfrm>
            <a:off x="6366555" y="2576147"/>
            <a:ext cx="3550972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1"/>
            <a:r>
              <a:rPr lang="en-US" i="1" dirty="0"/>
              <a:t>-- Denormalized:</a:t>
            </a:r>
            <a:endParaRPr lang="en-US" dirty="0"/>
          </a:p>
          <a:p>
            <a:pPr latinLnBrk="1"/>
            <a:r>
              <a:rPr lang="en-US" dirty="0"/>
              <a:t>SELECT </a:t>
            </a:r>
          </a:p>
          <a:p>
            <a:pPr latinLnBrk="1"/>
            <a:r>
              <a:rPr lang="en-US" dirty="0"/>
              <a:t>    name,</a:t>
            </a:r>
          </a:p>
          <a:p>
            <a:pPr latinLnBrk="1"/>
            <a:r>
              <a:rPr lang="en-US" dirty="0"/>
              <a:t>    </a:t>
            </a:r>
            <a:r>
              <a:rPr lang="en-US" dirty="0" err="1"/>
              <a:t>course_name</a:t>
            </a:r>
            <a:r>
              <a:rPr lang="en-US" dirty="0"/>
              <a:t>,</a:t>
            </a:r>
          </a:p>
          <a:p>
            <a:pPr latinLnBrk="1"/>
            <a:r>
              <a:rPr lang="en-US" dirty="0"/>
              <a:t>    </a:t>
            </a:r>
            <a:r>
              <a:rPr lang="en-US" dirty="0" err="1"/>
              <a:t>instructor_name</a:t>
            </a:r>
            <a:r>
              <a:rPr lang="en-US" dirty="0"/>
              <a:t>,</a:t>
            </a:r>
          </a:p>
          <a:p>
            <a:pPr latinLnBrk="1"/>
            <a:r>
              <a:rPr lang="en-US" dirty="0"/>
              <a:t>    </a:t>
            </a:r>
            <a:r>
              <a:rPr lang="en-US" dirty="0" err="1"/>
              <a:t>dept_name</a:t>
            </a:r>
            <a:endParaRPr lang="en-US" dirty="0"/>
          </a:p>
          <a:p>
            <a:pPr latinLnBrk="1"/>
            <a:r>
              <a:rPr lang="en-US" dirty="0"/>
              <a:t>FROM </a:t>
            </a:r>
            <a:r>
              <a:rPr lang="en-US" dirty="0" err="1"/>
              <a:t>student_course_view</a:t>
            </a:r>
            <a:endParaRPr lang="en-US" dirty="0"/>
          </a:p>
          <a:p>
            <a:pPr latinLnBrk="1"/>
            <a:r>
              <a:rPr lang="en-US" dirty="0"/>
              <a:t>WHERE </a:t>
            </a:r>
            <a:r>
              <a:rPr lang="en-US" dirty="0" err="1"/>
              <a:t>student_id</a:t>
            </a:r>
            <a:r>
              <a:rPr lang="en-US" dirty="0"/>
              <a:t> = 1;</a:t>
            </a:r>
          </a:p>
          <a:p>
            <a:pPr latinLnBrk="1"/>
            <a:endParaRPr lang="en-US" dirty="0"/>
          </a:p>
          <a:p>
            <a:pPr latinLnBrk="1"/>
            <a:r>
              <a:rPr lang="en-US" i="1" dirty="0"/>
              <a:t>-- No JOINs! 🎉</a:t>
            </a:r>
            <a:endParaRPr lang="en-US" dirty="0"/>
          </a:p>
          <a:p>
            <a:r>
              <a:rPr lang="en-US" i="1" dirty="0"/>
              <a:t>-- But: Data duplication, update complexity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00398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EDFD2-AA29-EE45-D446-024586A7A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Normalization vs Denormalization Decision Matrix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C36C53D-511A-462A-CC9B-35B339BACA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8431" y="2618411"/>
            <a:ext cx="9371468" cy="2775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5596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13118-470E-52EF-48C4-A02AC6B19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09EC5-4C39-559B-0D85-E208BD177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When to </a:t>
            </a:r>
            <a:r>
              <a:rPr lang="en-US" b="1" dirty="0" err="1"/>
              <a:t>Denormalize</a:t>
            </a:r>
            <a:r>
              <a:rPr lang="en-US" b="1" dirty="0"/>
              <a:t> - Real Scenarios</a:t>
            </a:r>
            <a:br>
              <a:rPr lang="en-US" b="1" dirty="0"/>
            </a:br>
            <a:r>
              <a:rPr lang="en-US" b="1" dirty="0"/>
              <a:t>Read-Heavy Analytics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B4288-A798-5220-EE72-4B6D3634A2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5401" y="2487987"/>
            <a:ext cx="7653389" cy="3914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4262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866DF-F680-3B68-7332-B81F0B67A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When to </a:t>
            </a:r>
            <a:r>
              <a:rPr lang="en-US" b="1" dirty="0" err="1"/>
              <a:t>Denormalize</a:t>
            </a:r>
            <a:r>
              <a:rPr lang="en-US" b="1" dirty="0"/>
              <a:t> - Real Scenarios</a:t>
            </a:r>
            <a:br>
              <a:rPr lang="en-US" b="1" dirty="0"/>
            </a:br>
            <a:r>
              <a:rPr lang="en-US" b="1" dirty="0"/>
              <a:t>High-Traffic Web Apps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35E54-937A-D6BD-0460-FAAE7CF35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4762AE-A9BC-5A7E-0C51-F7B97E02C0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1" y="2513266"/>
            <a:ext cx="10533212" cy="3116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041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6C139-3FC9-1A08-7C31-AC86F33D3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DE805-FD90-CCC5-8F93-50DB8AF34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When to </a:t>
            </a:r>
            <a:r>
              <a:rPr lang="en-US" b="1" dirty="0" err="1"/>
              <a:t>Denormalize</a:t>
            </a:r>
            <a:r>
              <a:rPr lang="en-US" b="1" dirty="0"/>
              <a:t> - Real Scenarios</a:t>
            </a:r>
            <a:br>
              <a:rPr lang="en-US" b="1" dirty="0"/>
            </a:br>
            <a:r>
              <a:rPr lang="en-US" b="1" dirty="0"/>
              <a:t>Aggregated Data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E0F90-E277-5298-AB6E-BEC77C15F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F95201-2A72-2A8C-95AA-2FEFDC269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299" y="2372759"/>
            <a:ext cx="9482814" cy="242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6647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8EDDB-E4B5-3A9B-CE15-EC4B8CE4D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Partial Denormalization Strategies</a:t>
            </a:r>
            <a:br>
              <a:rPr lang="en-US" b="1" dirty="0"/>
            </a:br>
            <a:r>
              <a:rPr lang="en-US" b="1" dirty="0"/>
              <a:t>Computed Columns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759626-DD1C-87F0-FB39-81A524F2C3B3}"/>
              </a:ext>
            </a:extLst>
          </p:cNvPr>
          <p:cNvSpPr txBox="1"/>
          <p:nvPr/>
        </p:nvSpPr>
        <p:spPr>
          <a:xfrm>
            <a:off x="1520574" y="2732926"/>
            <a:ext cx="9601196" cy="2958957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latinLnBrk="1"/>
            <a:r>
              <a:rPr lang="en-US" i="1" dirty="0"/>
              <a:t>-- Normalized base tables</a:t>
            </a:r>
            <a:endParaRPr lang="en-US" dirty="0"/>
          </a:p>
          <a:p>
            <a:pPr latinLnBrk="1"/>
            <a:r>
              <a:rPr lang="en-US" dirty="0"/>
              <a:t>CREATE TABLE </a:t>
            </a:r>
            <a:r>
              <a:rPr lang="en-US" dirty="0" err="1"/>
              <a:t>order_items</a:t>
            </a:r>
            <a:r>
              <a:rPr lang="en-US" dirty="0"/>
              <a:t> (</a:t>
            </a:r>
          </a:p>
          <a:p>
            <a:pPr latinLnBrk="1"/>
            <a:r>
              <a:rPr lang="en-US" dirty="0"/>
              <a:t>    </a:t>
            </a:r>
            <a:r>
              <a:rPr lang="en-US" dirty="0" err="1"/>
              <a:t>order_id</a:t>
            </a:r>
            <a:r>
              <a:rPr lang="en-US" dirty="0"/>
              <a:t> INT,</a:t>
            </a:r>
          </a:p>
          <a:p>
            <a:pPr latinLnBrk="1"/>
            <a:r>
              <a:rPr lang="en-US" dirty="0"/>
              <a:t>    </a:t>
            </a:r>
            <a:r>
              <a:rPr lang="en-US" dirty="0" err="1"/>
              <a:t>product_id</a:t>
            </a:r>
            <a:r>
              <a:rPr lang="en-US" dirty="0"/>
              <a:t> INT,</a:t>
            </a:r>
          </a:p>
          <a:p>
            <a:pPr latinLnBrk="1"/>
            <a:r>
              <a:rPr lang="en-US" dirty="0"/>
              <a:t>    quantity INT,</a:t>
            </a:r>
          </a:p>
          <a:p>
            <a:pPr latinLnBrk="1"/>
            <a:r>
              <a:rPr lang="en-US" dirty="0"/>
              <a:t>    </a:t>
            </a:r>
            <a:r>
              <a:rPr lang="en-US" dirty="0" err="1"/>
              <a:t>unit_price</a:t>
            </a:r>
            <a:r>
              <a:rPr lang="en-US" dirty="0"/>
              <a:t> DECIMAL(10,2)</a:t>
            </a:r>
          </a:p>
          <a:p>
            <a:pPr latinLnBrk="1"/>
            <a:r>
              <a:rPr lang="en-US" dirty="0"/>
              <a:t>);</a:t>
            </a:r>
          </a:p>
          <a:p>
            <a:pPr latinLnBrk="1"/>
            <a:endParaRPr lang="en-US" dirty="0"/>
          </a:p>
          <a:p>
            <a:pPr latinLnBrk="1"/>
            <a:r>
              <a:rPr lang="en-US" i="1" dirty="0"/>
              <a:t>-- Denormalized aggregate</a:t>
            </a:r>
            <a:endParaRPr lang="en-US" dirty="0"/>
          </a:p>
          <a:p>
            <a:pPr latinLnBrk="1"/>
            <a:r>
              <a:rPr lang="en-US" dirty="0"/>
              <a:t>CREATE TABLE orders (</a:t>
            </a:r>
          </a:p>
          <a:p>
            <a:pPr latinLnBrk="1"/>
            <a:r>
              <a:rPr lang="en-US" dirty="0"/>
              <a:t>    </a:t>
            </a:r>
            <a:r>
              <a:rPr lang="en-US" dirty="0" err="1"/>
              <a:t>order_id</a:t>
            </a:r>
            <a:r>
              <a:rPr lang="en-US" dirty="0"/>
              <a:t> INT PRIMARY KEY,</a:t>
            </a:r>
          </a:p>
          <a:p>
            <a:pPr latinLnBrk="1"/>
            <a:r>
              <a:rPr lang="en-US" dirty="0"/>
              <a:t>    </a:t>
            </a:r>
            <a:r>
              <a:rPr lang="en-US" dirty="0" err="1"/>
              <a:t>customer_id</a:t>
            </a:r>
            <a:r>
              <a:rPr lang="en-US" dirty="0"/>
              <a:t> INT,</a:t>
            </a:r>
          </a:p>
          <a:p>
            <a:pPr latinLnBrk="1"/>
            <a:r>
              <a:rPr lang="en-US" dirty="0"/>
              <a:t>    </a:t>
            </a:r>
            <a:r>
              <a:rPr lang="en-US" dirty="0" err="1"/>
              <a:t>total_amount</a:t>
            </a:r>
            <a:r>
              <a:rPr lang="en-US" dirty="0"/>
              <a:t> DECIMAL(10,2),  </a:t>
            </a:r>
            <a:r>
              <a:rPr lang="en-US" i="1" dirty="0"/>
              <a:t>-- ← Denormalized (sum of items)</a:t>
            </a:r>
            <a:endParaRPr lang="en-US" dirty="0"/>
          </a:p>
          <a:p>
            <a:pPr latinLnBrk="1"/>
            <a:r>
              <a:rPr lang="en-US" dirty="0"/>
              <a:t>    </a:t>
            </a:r>
            <a:r>
              <a:rPr lang="en-US" dirty="0" err="1"/>
              <a:t>item_count</a:t>
            </a:r>
            <a:r>
              <a:rPr lang="en-US" dirty="0"/>
              <a:t> INT                </a:t>
            </a:r>
            <a:r>
              <a:rPr lang="en-US" i="1" dirty="0"/>
              <a:t>-- ← Denormalized (count of items)</a:t>
            </a:r>
            <a:endParaRPr lang="en-US" dirty="0"/>
          </a:p>
          <a:p>
            <a:pPr latinLnBrk="1"/>
            <a:r>
              <a:rPr lang="en-US" dirty="0"/>
              <a:t>);</a:t>
            </a:r>
          </a:p>
          <a:p>
            <a:pPr latinLnBrk="1"/>
            <a:endParaRPr lang="en-US" dirty="0"/>
          </a:p>
          <a:p>
            <a:r>
              <a:rPr lang="en-US" i="1" dirty="0"/>
              <a:t>-- Maintain with triggers or application logic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7442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5F422-230C-964D-3D47-BC5B65574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967E4-DDEF-0E86-B514-CD891184E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Partial Denormalization Strategies</a:t>
            </a:r>
            <a:br>
              <a:rPr lang="en-US" b="1" dirty="0"/>
            </a:br>
            <a:r>
              <a:rPr lang="en-US" b="1" dirty="0"/>
              <a:t>Materialized Views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930102-B7CC-7A08-A023-33181E722BDF}"/>
              </a:ext>
            </a:extLst>
          </p:cNvPr>
          <p:cNvSpPr txBox="1"/>
          <p:nvPr/>
        </p:nvSpPr>
        <p:spPr>
          <a:xfrm>
            <a:off x="1520574" y="2732926"/>
            <a:ext cx="9986482" cy="3139321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latinLnBrk="1"/>
            <a:r>
              <a:rPr lang="en-US" i="1" dirty="0"/>
              <a:t>-- Normalized source</a:t>
            </a:r>
            <a:endParaRPr lang="en-US" dirty="0"/>
          </a:p>
          <a:p>
            <a:pPr latinLnBrk="1"/>
            <a:r>
              <a:rPr lang="en-US" dirty="0"/>
              <a:t>CREATE VIEW </a:t>
            </a:r>
            <a:r>
              <a:rPr lang="en-US" dirty="0" err="1"/>
              <a:t>student_report</a:t>
            </a:r>
            <a:r>
              <a:rPr lang="en-US" dirty="0"/>
              <a:t> AS</a:t>
            </a:r>
          </a:p>
          <a:p>
            <a:pPr latinLnBrk="1"/>
            <a:r>
              <a:rPr lang="en-US" dirty="0"/>
              <a:t>SELECT </a:t>
            </a:r>
          </a:p>
          <a:p>
            <a:pPr latinLnBrk="1"/>
            <a:r>
              <a:rPr lang="en-US" dirty="0"/>
              <a:t>    </a:t>
            </a:r>
            <a:r>
              <a:rPr lang="en-US" dirty="0" err="1"/>
              <a:t>s.student_id</a:t>
            </a:r>
            <a:r>
              <a:rPr lang="en-US" dirty="0"/>
              <a:t>,</a:t>
            </a:r>
          </a:p>
          <a:p>
            <a:pPr latinLnBrk="1"/>
            <a:r>
              <a:rPr lang="en-US" dirty="0"/>
              <a:t>    </a:t>
            </a:r>
            <a:r>
              <a:rPr lang="en-US" dirty="0" err="1"/>
              <a:t>s.name</a:t>
            </a:r>
            <a:r>
              <a:rPr lang="en-US" dirty="0"/>
              <a:t>,</a:t>
            </a:r>
          </a:p>
          <a:p>
            <a:pPr latinLnBrk="1"/>
            <a:r>
              <a:rPr lang="en-US" dirty="0"/>
              <a:t>    COUNT(</a:t>
            </a:r>
            <a:r>
              <a:rPr lang="en-US" dirty="0" err="1"/>
              <a:t>e.course_id</a:t>
            </a:r>
            <a:r>
              <a:rPr lang="en-US" dirty="0"/>
              <a:t>) as </a:t>
            </a:r>
            <a:r>
              <a:rPr lang="en-US" dirty="0" err="1"/>
              <a:t>course_count</a:t>
            </a:r>
            <a:r>
              <a:rPr lang="en-US" dirty="0"/>
              <a:t>,</a:t>
            </a:r>
          </a:p>
          <a:p>
            <a:pPr latinLnBrk="1"/>
            <a:r>
              <a:rPr lang="en-US" dirty="0"/>
              <a:t>    AVG(</a:t>
            </a:r>
            <a:r>
              <a:rPr lang="en-US" dirty="0" err="1"/>
              <a:t>e.grade</a:t>
            </a:r>
            <a:r>
              <a:rPr lang="en-US" dirty="0"/>
              <a:t>) as </a:t>
            </a:r>
            <a:r>
              <a:rPr lang="en-US" dirty="0" err="1"/>
              <a:t>gpa</a:t>
            </a:r>
            <a:endParaRPr lang="en-US" dirty="0"/>
          </a:p>
          <a:p>
            <a:pPr latinLnBrk="1"/>
            <a:r>
              <a:rPr lang="en-US" dirty="0"/>
              <a:t>FROM students s</a:t>
            </a:r>
          </a:p>
          <a:p>
            <a:pPr latinLnBrk="1"/>
            <a:r>
              <a:rPr lang="en-US" dirty="0"/>
              <a:t>LEFT JOIN enrollments e </a:t>
            </a:r>
          </a:p>
          <a:p>
            <a:pPr latinLnBrk="1"/>
            <a:r>
              <a:rPr lang="en-US" dirty="0"/>
              <a:t>ON </a:t>
            </a:r>
            <a:r>
              <a:rPr lang="en-US" dirty="0" err="1"/>
              <a:t>s.student_id</a:t>
            </a:r>
            <a:r>
              <a:rPr lang="en-US" dirty="0"/>
              <a:t> = </a:t>
            </a:r>
            <a:r>
              <a:rPr lang="en-US" dirty="0" err="1"/>
              <a:t>e.student_id</a:t>
            </a:r>
            <a:endParaRPr lang="en-US" dirty="0"/>
          </a:p>
          <a:p>
            <a:pPr latinLnBrk="1"/>
            <a:r>
              <a:rPr lang="en-US" dirty="0"/>
              <a:t>GROUP BY </a:t>
            </a:r>
            <a:r>
              <a:rPr lang="en-US" dirty="0" err="1"/>
              <a:t>s.student_id</a:t>
            </a:r>
            <a:r>
              <a:rPr lang="en-US" dirty="0"/>
              <a:t>, </a:t>
            </a:r>
            <a:r>
              <a:rPr lang="en-US" dirty="0" err="1"/>
              <a:t>s.name</a:t>
            </a:r>
            <a:r>
              <a:rPr lang="en-US" dirty="0"/>
              <a:t>;</a:t>
            </a:r>
          </a:p>
          <a:p>
            <a:pPr latinLnBrk="1"/>
            <a:endParaRPr lang="en-US" dirty="0"/>
          </a:p>
          <a:p>
            <a:pPr latinLnBrk="1"/>
            <a:r>
              <a:rPr lang="en-US" i="1" dirty="0"/>
              <a:t>-- Materialize for performance</a:t>
            </a:r>
            <a:endParaRPr lang="en-US" dirty="0"/>
          </a:p>
          <a:p>
            <a:pPr latinLnBrk="1"/>
            <a:r>
              <a:rPr lang="en-US" dirty="0"/>
              <a:t>CREATE MATERIALIZED VIEW </a:t>
            </a:r>
            <a:r>
              <a:rPr lang="en-US" dirty="0" err="1"/>
              <a:t>student_report_cache</a:t>
            </a:r>
            <a:r>
              <a:rPr lang="en-US" dirty="0"/>
              <a:t> AS</a:t>
            </a:r>
          </a:p>
          <a:p>
            <a:pPr latinLnBrk="1"/>
            <a:r>
              <a:rPr lang="en-US" dirty="0"/>
              <a:t>SELECT * FROM </a:t>
            </a:r>
            <a:r>
              <a:rPr lang="en-US" dirty="0" err="1"/>
              <a:t>student_report</a:t>
            </a:r>
            <a:r>
              <a:rPr lang="en-US" dirty="0"/>
              <a:t>;</a:t>
            </a:r>
          </a:p>
          <a:p>
            <a:pPr latinLnBrk="1"/>
            <a:endParaRPr lang="en-US" dirty="0"/>
          </a:p>
          <a:p>
            <a:pPr latinLnBrk="1"/>
            <a:r>
              <a:rPr lang="en-US" i="1" dirty="0"/>
              <a:t>-- Refresh periodically</a:t>
            </a:r>
            <a:endParaRPr lang="en-US" dirty="0"/>
          </a:p>
          <a:p>
            <a:r>
              <a:rPr lang="en-US" dirty="0"/>
              <a:t>REFRESH MATERIALIZED VIEW </a:t>
            </a:r>
            <a:r>
              <a:rPr lang="en-US" dirty="0" err="1"/>
              <a:t>student_report_cache</a:t>
            </a:r>
            <a:r>
              <a:rPr lang="en-US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6519920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1BA88-025F-F810-69E0-7F47A6317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59CCB-3A29-1FA2-9657-40AB2C88F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Partial Denormalization Strategies</a:t>
            </a:r>
            <a:br>
              <a:rPr lang="en-US" b="1" dirty="0"/>
            </a:br>
            <a:r>
              <a:rPr lang="en-US" b="1" dirty="0"/>
              <a:t>Selective Duplication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15E674-AD12-AB48-E33F-81D42DD0A672}"/>
              </a:ext>
            </a:extLst>
          </p:cNvPr>
          <p:cNvSpPr txBox="1"/>
          <p:nvPr/>
        </p:nvSpPr>
        <p:spPr>
          <a:xfrm>
            <a:off x="1520574" y="2732926"/>
            <a:ext cx="9601196" cy="3416320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latinLnBrk="1"/>
            <a:r>
              <a:rPr lang="en-US" i="1" dirty="0"/>
              <a:t>-- Duplicate frequently-accessed data only</a:t>
            </a:r>
            <a:endParaRPr lang="en-US" dirty="0"/>
          </a:p>
          <a:p>
            <a:pPr latinLnBrk="1"/>
            <a:r>
              <a:rPr lang="en-US" dirty="0"/>
              <a:t>CREATE TABLE orders (</a:t>
            </a:r>
          </a:p>
          <a:p>
            <a:pPr latinLnBrk="1"/>
            <a:r>
              <a:rPr lang="en-US" dirty="0"/>
              <a:t>    </a:t>
            </a:r>
            <a:r>
              <a:rPr lang="en-US" dirty="0" err="1"/>
              <a:t>order_id</a:t>
            </a:r>
            <a:r>
              <a:rPr lang="en-US" dirty="0"/>
              <a:t> INT PRIMARY KEY,</a:t>
            </a:r>
          </a:p>
          <a:p>
            <a:pPr latinLnBrk="1"/>
            <a:r>
              <a:rPr lang="en-US" dirty="0"/>
              <a:t>    </a:t>
            </a:r>
            <a:r>
              <a:rPr lang="en-US" dirty="0" err="1"/>
              <a:t>customer_id</a:t>
            </a:r>
            <a:r>
              <a:rPr lang="en-US" dirty="0"/>
              <a:t> INT,</a:t>
            </a:r>
          </a:p>
          <a:p>
            <a:pPr latinLnBrk="1"/>
            <a:r>
              <a:rPr lang="en-US" dirty="0"/>
              <a:t>    </a:t>
            </a:r>
            <a:r>
              <a:rPr lang="en-US" dirty="0" err="1"/>
              <a:t>customer_name</a:t>
            </a:r>
            <a:r>
              <a:rPr lang="en-US" dirty="0"/>
              <a:t> VARCHAR(100),  </a:t>
            </a:r>
            <a:r>
              <a:rPr lang="en-US" i="1" dirty="0"/>
              <a:t>-- ← Duplicated for display</a:t>
            </a:r>
            <a:endParaRPr lang="en-US" dirty="0"/>
          </a:p>
          <a:p>
            <a:pPr latinLnBrk="1"/>
            <a:r>
              <a:rPr lang="en-US" dirty="0"/>
              <a:t>    </a:t>
            </a:r>
            <a:r>
              <a:rPr lang="en-US" dirty="0" err="1"/>
              <a:t>customer_email</a:t>
            </a:r>
            <a:r>
              <a:rPr lang="en-US" dirty="0"/>
              <a:t> VARCHAR(100), </a:t>
            </a:r>
            <a:r>
              <a:rPr lang="en-US" i="1" dirty="0"/>
              <a:t>-- ← Duplicated for emails</a:t>
            </a:r>
            <a:endParaRPr lang="en-US" dirty="0"/>
          </a:p>
          <a:p>
            <a:pPr latinLnBrk="1"/>
            <a:r>
              <a:rPr lang="en-US" dirty="0"/>
              <a:t>    </a:t>
            </a:r>
            <a:r>
              <a:rPr lang="en-US" i="1" dirty="0"/>
              <a:t>-- Don't duplicate address, phone, etc.</a:t>
            </a:r>
            <a:endParaRPr lang="en-US" dirty="0"/>
          </a:p>
          <a:p>
            <a:pPr latinLnBrk="1"/>
            <a:r>
              <a:rPr lang="en-US" dirty="0"/>
              <a:t>    FOREIGN KEY (</a:t>
            </a:r>
            <a:r>
              <a:rPr lang="en-US" dirty="0" err="1"/>
              <a:t>customer_id</a:t>
            </a:r>
            <a:r>
              <a:rPr lang="en-US" dirty="0"/>
              <a:t>) REFERENCES customers(</a:t>
            </a:r>
            <a:r>
              <a:rPr lang="en-US" dirty="0" err="1"/>
              <a:t>customer_id</a:t>
            </a:r>
            <a:r>
              <a:rPr lang="en-US" dirty="0"/>
              <a:t>)</a:t>
            </a:r>
          </a:p>
          <a:p>
            <a:pPr latinLnBrk="1"/>
            <a:r>
              <a:rPr lang="en-US" dirty="0"/>
              <a:t>);</a:t>
            </a:r>
          </a:p>
          <a:p>
            <a:pPr latinLnBrk="1"/>
            <a:endParaRPr lang="en-US" dirty="0"/>
          </a:p>
          <a:p>
            <a:pPr latinLnBrk="1"/>
            <a:r>
              <a:rPr lang="en-US" i="1" dirty="0"/>
              <a:t>-- Write: Update both places</a:t>
            </a:r>
            <a:endParaRPr lang="en-US" dirty="0"/>
          </a:p>
          <a:p>
            <a:r>
              <a:rPr lang="en-US" i="1" dirty="0"/>
              <a:t>-- Read: Fast (no JOIN for common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52276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5CA54-C46B-1622-DB12-3B91824D4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ADA7D-F0FF-6319-B103-C5332D94D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atinLnBrk="1"/>
            <a:r>
              <a:rPr lang="en-US" i="1" dirty="0"/>
              <a:t>Reference when:</a:t>
            </a:r>
            <a:endParaRPr lang="en-US" dirty="0"/>
          </a:p>
          <a:p>
            <a:pPr lvl="1" latinLnBrk="1"/>
            <a:r>
              <a:rPr lang="en-US" i="1" dirty="0"/>
              <a:t>1. Data changes independently</a:t>
            </a:r>
            <a:endParaRPr lang="en-US" dirty="0"/>
          </a:p>
          <a:p>
            <a:pPr lvl="1" latinLnBrk="1"/>
            <a:r>
              <a:rPr lang="en-US" i="1" dirty="0"/>
              <a:t>2. Data used in many contexts</a:t>
            </a:r>
            <a:endParaRPr lang="en-US" dirty="0"/>
          </a:p>
          <a:p>
            <a:pPr lvl="1"/>
            <a:r>
              <a:rPr lang="en-US" i="1" dirty="0"/>
              <a:t>3. Document size would be too large (&gt;16MB)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8060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2E971-1A44-4779-7520-029D3D8AD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Tools and Techniques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3FF7C-EACC-8637-0DEE-54B130EBA6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47500" lnSpcReduction="20000"/>
          </a:bodyPr>
          <a:lstStyle/>
          <a:p>
            <a:pPr latinLnBrk="1"/>
            <a:r>
              <a:rPr lang="en-US" dirty="0"/>
              <a:t>1. Database Features:</a:t>
            </a:r>
          </a:p>
          <a:p>
            <a:pPr latinLnBrk="1"/>
            <a:r>
              <a:rPr lang="en-US" dirty="0"/>
              <a:t>   ✅ Triggers (auto-update derived data)</a:t>
            </a:r>
          </a:p>
          <a:p>
            <a:pPr latinLnBrk="1"/>
            <a:r>
              <a:rPr lang="en-US" dirty="0"/>
              <a:t>   ✅ Materialized views (pre-computed JOINs)</a:t>
            </a:r>
          </a:p>
          <a:p>
            <a:pPr latinLnBrk="1"/>
            <a:r>
              <a:rPr lang="en-US" dirty="0"/>
              <a:t>   ✅ Generated columns (computed values)</a:t>
            </a:r>
          </a:p>
          <a:p>
            <a:pPr latinLnBrk="1"/>
            <a:r>
              <a:rPr lang="en-US" dirty="0"/>
              <a:t>   ✅ JSON columns (flexible schema in SQL)</a:t>
            </a:r>
          </a:p>
          <a:p>
            <a:pPr latinLnBrk="1"/>
            <a:endParaRPr lang="en-US" dirty="0"/>
          </a:p>
          <a:p>
            <a:pPr latinLnBrk="1"/>
            <a:r>
              <a:rPr lang="en-US" dirty="0"/>
              <a:t>2. Application Patterns:</a:t>
            </a:r>
          </a:p>
          <a:p>
            <a:pPr latinLnBrk="1"/>
            <a:r>
              <a:rPr lang="en-US" dirty="0"/>
              <a:t>   ✅ Repository pattern (encapsulate updates)</a:t>
            </a:r>
          </a:p>
          <a:p>
            <a:pPr latinLnBrk="1"/>
            <a:r>
              <a:rPr lang="en-US" dirty="0"/>
              <a:t>   ✅ Event sourcing (rebuild views from events)</a:t>
            </a:r>
          </a:p>
          <a:p>
            <a:pPr latinLnBrk="1"/>
            <a:r>
              <a:rPr lang="en-US" dirty="0"/>
              <a:t>   ✅ Cache-aside pattern (lazy load cache)</a:t>
            </a:r>
          </a:p>
          <a:p>
            <a:pPr latinLnBrk="1"/>
            <a:r>
              <a:rPr lang="en-US" dirty="0"/>
              <a:t>   ✅ Write-through cache (eager update)</a:t>
            </a:r>
          </a:p>
          <a:p>
            <a:pPr latinLnBrk="1"/>
            <a:endParaRPr lang="en-US" dirty="0"/>
          </a:p>
          <a:p>
            <a:pPr latinLnBrk="1"/>
            <a:r>
              <a:rPr lang="en-US" dirty="0"/>
              <a:t>3. Infrastructure:</a:t>
            </a:r>
          </a:p>
          <a:p>
            <a:pPr latinLnBrk="1"/>
            <a:r>
              <a:rPr lang="en-US" dirty="0"/>
              <a:t>   ✅ CDC tools (</a:t>
            </a:r>
            <a:r>
              <a:rPr lang="en-US" dirty="0" err="1"/>
              <a:t>Debezium</a:t>
            </a:r>
            <a:r>
              <a:rPr lang="en-US" dirty="0"/>
              <a:t>, Maxwell)</a:t>
            </a:r>
          </a:p>
          <a:p>
            <a:pPr latinLnBrk="1"/>
            <a:r>
              <a:rPr lang="en-US" dirty="0"/>
              <a:t>   ✅ Stream processing (Kafka, Flink)</a:t>
            </a:r>
          </a:p>
          <a:p>
            <a:pPr latinLnBrk="1"/>
            <a:r>
              <a:rPr lang="en-US" dirty="0"/>
              <a:t>   ✅ Search engines (Elasticsearch)</a:t>
            </a:r>
          </a:p>
          <a:p>
            <a:r>
              <a:rPr lang="en-US" dirty="0"/>
              <a:t>   ✅ Caching layers (Redis, Memcached)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10135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8610</TotalTime>
  <Words>1838</Words>
  <Application>Microsoft Macintosh PowerPoint</Application>
  <PresentationFormat>Widescreen</PresentationFormat>
  <Paragraphs>287</Paragraphs>
  <Slides>29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Aptos</vt:lpstr>
      <vt:lpstr>Arial</vt:lpstr>
      <vt:lpstr>Garamond</vt:lpstr>
      <vt:lpstr>Wingdings</vt:lpstr>
      <vt:lpstr>Organic</vt:lpstr>
      <vt:lpstr>Data Normalization</vt:lpstr>
      <vt:lpstr>The Mess We're Trying to Avoid</vt:lpstr>
      <vt:lpstr>The Core Problems</vt:lpstr>
      <vt:lpstr>Normalized Version (Simplified)</vt:lpstr>
      <vt:lpstr>Benefits</vt:lpstr>
      <vt:lpstr>Understanding Keys</vt:lpstr>
      <vt:lpstr>The Normal Forms</vt:lpstr>
      <vt:lpstr>First Normal Form (1NF)</vt:lpstr>
      <vt:lpstr>First Normal Form (1NF)</vt:lpstr>
      <vt:lpstr>First Normal Form (1NF)</vt:lpstr>
      <vt:lpstr>Second Normal Form (2NF)</vt:lpstr>
      <vt:lpstr>Second Normal Form (2NF)</vt:lpstr>
      <vt:lpstr>Second Normal Form (2NF)</vt:lpstr>
      <vt:lpstr>Third Normal Form (3NF)</vt:lpstr>
      <vt:lpstr>Third Normal Form (3NF)</vt:lpstr>
      <vt:lpstr>The Normal Forms Cheat Sheet</vt:lpstr>
      <vt:lpstr>BCNF (Boyce-Codd Normal Form)</vt:lpstr>
      <vt:lpstr>BCNF (Boyce-Codd Normal Form)</vt:lpstr>
      <vt:lpstr>When Normalization Hurts Performance</vt:lpstr>
      <vt:lpstr>When Normalization Hurts Performance</vt:lpstr>
      <vt:lpstr>Normalization vs Denormalization Decision Matrix</vt:lpstr>
      <vt:lpstr>When to Denormalize - Real Scenarios Read-Heavy Analytics</vt:lpstr>
      <vt:lpstr>When to Denormalize - Real Scenarios High-Traffic Web Apps</vt:lpstr>
      <vt:lpstr>When to Denormalize - Real Scenarios Aggregated Data</vt:lpstr>
      <vt:lpstr>Partial Denormalization Strategies Computed Columns</vt:lpstr>
      <vt:lpstr>Partial Denormalization Strategies Materialized Views</vt:lpstr>
      <vt:lpstr>Partial Denormalization Strategies Selective Duplication</vt:lpstr>
      <vt:lpstr>NoSQL</vt:lpstr>
      <vt:lpstr>Tools and Techniques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Wang, Denny</dc:creator>
  <cp:lastModifiedBy>Wang, Denny</cp:lastModifiedBy>
  <cp:revision>50</cp:revision>
  <dcterms:created xsi:type="dcterms:W3CDTF">2025-09-28T15:46:03Z</dcterms:created>
  <dcterms:modified xsi:type="dcterms:W3CDTF">2025-12-03T01:20:47Z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2025-09-28T15:46:19Z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b3fd8f3b-e1e8-404d-882b-ad0e79870a21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