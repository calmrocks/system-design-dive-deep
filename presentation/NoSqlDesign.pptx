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72" r:id="rId1"/>
  </p:sldMasterIdLst>
  <p:notesMasterIdLst>
    <p:notesMasterId r:id="rId22"/>
  </p:notesMasterIdLst>
  <p:sldIdLst>
    <p:sldId id="256" r:id="rId2"/>
    <p:sldId id="261" r:id="rId3"/>
    <p:sldId id="258" r:id="rId4"/>
    <p:sldId id="259" r:id="rId5"/>
    <p:sldId id="260" r:id="rId6"/>
    <p:sldId id="275" r:id="rId7"/>
    <p:sldId id="262" r:id="rId8"/>
    <p:sldId id="257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/>
    <p:restoredTop sz="90509"/>
  </p:normalViewPr>
  <p:slideViewPr>
    <p:cSldViewPr snapToGrid="0">
      <p:cViewPr>
        <p:scale>
          <a:sx n="106" d="100"/>
          <a:sy n="106" d="100"/>
        </p:scale>
        <p:origin x="176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E9F07-5FA6-BA49-B825-7EA04045DFAA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DDBB-588D-E349-89FB-E97E41944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get recent posts globally?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18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we can build a top posts table or GSI?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F5CC-BF30-444E-FC18-5CAED9F2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65519-ABEC-16AB-66AE-B4B08BCA2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7E0C-A996-F6F7-9A98-AFBF6FA88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22719-722D-D551-027B-08C2A393A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C1E6-322C-102D-01BF-A5CCB2C2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DF051-441E-B178-A4BC-4524C98BC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96C3C-B651-802A-1F95-68CD4B9ED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F7401-83F7-CBFB-4686-8ADF9622F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5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3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530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59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0125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0347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13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7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7507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63EFA5E-FA76-400D-B3DC-F0BA90E6D107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84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9543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182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00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74" r:id="rId2"/>
    <p:sldLayoutId id="2147484175" r:id="rId3"/>
    <p:sldLayoutId id="2147484176" r:id="rId4"/>
    <p:sldLayoutId id="2147484177" r:id="rId5"/>
    <p:sldLayoutId id="2147484178" r:id="rId6"/>
    <p:sldLayoutId id="2147484179" r:id="rId7"/>
    <p:sldLayoutId id="2147484180" r:id="rId8"/>
    <p:sldLayoutId id="2147484181" r:id="rId9"/>
    <p:sldLayoutId id="2147484182" r:id="rId10"/>
    <p:sldLayoutId id="21474841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CA1C-7A23-AE87-8352-9488FAFA2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NoSQL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A3F78-1501-0522-7534-F9A7E7B0E4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7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4BCB-59BC-D207-AA8A-0D45323F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C28494D-46BA-C97E-E5F2-2C4E21F999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986021"/>
            <a:ext cx="5676165" cy="344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95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E6F2-CC0F-1FF6-169D-DB6DF58E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Partition Key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71679F-596E-4945-9032-ED17C56DA0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586876"/>
            <a:ext cx="78485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partition key determines the physical storage location (partition) of an item within DynamoDB.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DynamoDB uses the partition key value as input to an internal hash function, which then distributes the data across multiple partitions.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items with the same partition key value are stored together within the same partition. 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 simple primary key, the partition key must be unique across all items in the table.</a:t>
            </a:r>
          </a:p>
        </p:txBody>
      </p:sp>
    </p:spTree>
    <p:extLst>
      <p:ext uri="{BB962C8B-B14F-4D97-AF65-F5344CB8AC3E}">
        <p14:creationId xmlns:p14="http://schemas.microsoft.com/office/powerpoint/2010/main" val="212224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2DA1-2164-3C3F-A17F-1389B091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Key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C02F8-5AF0-27C4-75F4-7EEC7B227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586876"/>
            <a:ext cx="91309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sort key, also known as a range key, is an optional component of a composite primary key.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 sort key is defined, items within the same partition (sharing the same partition key) are stored in a sorted order based on their sort key values.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combination of </a:t>
            </a:r>
            <a:r>
              <a:rPr lang="en-US" altLang="en-US" sz="1800" dirty="0">
                <a:latin typeface="Arial" panose="020B0604020202020204" pitchFamily="34" charset="0"/>
              </a:rPr>
              <a:t>the partition key and sort key must be unique for each item in the table.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Sort keys enable efficient range queries and other operations like </a:t>
            </a:r>
            <a:r>
              <a:rPr lang="en-US" altLang="en-US" sz="1800" dirty="0" err="1">
                <a:latin typeface="Arial" panose="020B0604020202020204" pitchFamily="34" charset="0"/>
              </a:rPr>
              <a:t>begins_with</a:t>
            </a:r>
            <a:r>
              <a:rPr lang="en-US" altLang="en-US" sz="1800" dirty="0">
                <a:latin typeface="Arial" panose="020B0604020202020204" pitchFamily="34" charset="0"/>
              </a:rPr>
              <a:t>, between, greater than, or less than on items within a specific partition.</a:t>
            </a:r>
          </a:p>
        </p:txBody>
      </p:sp>
    </p:spTree>
    <p:extLst>
      <p:ext uri="{BB962C8B-B14F-4D97-AF65-F5344CB8AC3E}">
        <p14:creationId xmlns:p14="http://schemas.microsoft.com/office/powerpoint/2010/main" val="1488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200C-247E-D665-46CE-A108EEBF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and Relationship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D45456-2B39-AB32-AABD-5805EEC8B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713101"/>
            <a:ext cx="94989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partition key alone must be unique in a simple primary key. In a composite primary key, the combination of the partition key and sort key must be unique.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Distribution: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partition key dictates how data is distributed across partitions.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Ordering and Querying: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sort key determines the order of items within a partition and enables flexible querying options within that partition.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Immutability: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the partition key and sort key, once set, are immutable for an item.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18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5D5E-F265-4A91-6805-7BA50C67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vs SCAN</a:t>
            </a:r>
          </a:p>
        </p:txBody>
      </p:sp>
      <p:pic>
        <p:nvPicPr>
          <p:cNvPr id="7170" name="Picture 2" descr="DynamoDB Query vs Scan explanation">
            <a:extLst>
              <a:ext uri="{FF2B5EF4-FFF2-40B4-BE49-F238E27FC236}">
                <a16:creationId xmlns:a16="http://schemas.microsoft.com/office/drawing/2014/main" id="{5D8E6BDB-D4D6-629B-94A7-100000D035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146" y="1704181"/>
            <a:ext cx="8225681" cy="43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8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008B-2C77-9BBF-2EDF-BF70B1E9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IndexeS</a:t>
            </a:r>
            <a:endParaRPr lang="en-US" dirty="0"/>
          </a:p>
        </p:txBody>
      </p:sp>
      <p:pic>
        <p:nvPicPr>
          <p:cNvPr id="5122" name="Picture 2" descr="Inverted Index in DynamoDB visualization">
            <a:extLst>
              <a:ext uri="{FF2B5EF4-FFF2-40B4-BE49-F238E27FC236}">
                <a16:creationId xmlns:a16="http://schemas.microsoft.com/office/drawing/2014/main" id="{4773467C-6EDA-1422-749A-7DAD23A742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971520"/>
            <a:ext cx="5439875" cy="362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67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5C5D-6D87-1269-58C8-43BE9EB4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Principles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BA35-3A28-6D49-BA9C-A7D1D83DA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Query-Driven Design</a:t>
            </a:r>
            <a:endParaRPr lang="en-US" dirty="0"/>
          </a:p>
          <a:p>
            <a:r>
              <a:rPr lang="en-US" b="1" dirty="0"/>
              <a:t>Consider Eventual Consistency</a:t>
            </a:r>
          </a:p>
          <a:p>
            <a:r>
              <a:rPr lang="en-US" b="1" dirty="0"/>
              <a:t>Single Table Design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8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0023-308A-BF9E-F21D-79D4413F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-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FF98-0049-9D17-5653-285CF5873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user by </a:t>
            </a:r>
            <a:r>
              <a:rPr lang="en-US" dirty="0" err="1"/>
              <a:t>user_id</a:t>
            </a:r>
            <a:r>
              <a:rPr lang="en-US" dirty="0"/>
              <a:t> (primary lookup) </a:t>
            </a:r>
          </a:p>
          <a:p>
            <a:r>
              <a:rPr lang="en-US" dirty="0"/>
              <a:t>Get user by email (for login) </a:t>
            </a:r>
          </a:p>
          <a:p>
            <a:r>
              <a:rPr lang="en-US" dirty="0"/>
              <a:t>Get user by phone number (alternative login/verification) </a:t>
            </a:r>
          </a:p>
          <a:p>
            <a:r>
              <a:rPr lang="en-US" dirty="0"/>
              <a:t>Get user by username (profile lookup) </a:t>
            </a:r>
          </a:p>
          <a:p>
            <a:r>
              <a:rPr lang="en-US" dirty="0"/>
              <a:t>Search users by name (less common, might skip) </a:t>
            </a:r>
          </a:p>
          <a:p>
            <a:r>
              <a:rPr lang="en-US" dirty="0"/>
              <a:t>Get users by status (active/inactive) - admin queries </a:t>
            </a:r>
          </a:p>
          <a:p>
            <a:r>
              <a:rPr lang="en-US" dirty="0"/>
              <a:t>Get users created in date range (admin/analytics)</a:t>
            </a:r>
          </a:p>
        </p:txBody>
      </p:sp>
    </p:spTree>
    <p:extLst>
      <p:ext uri="{BB962C8B-B14F-4D97-AF65-F5344CB8AC3E}">
        <p14:creationId xmlns:p14="http://schemas.microsoft.com/office/powerpoint/2010/main" val="3346271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A908-FBCB-9858-E610-27A7D406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FBAB-6ECE-B013-600B-A2BCC284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- POSTS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4023-5F43-8A57-0AB4-D43BDD68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post by </a:t>
            </a:r>
            <a:r>
              <a:rPr lang="en-US" dirty="0" err="1"/>
              <a:t>post_id</a:t>
            </a:r>
            <a:r>
              <a:rPr lang="en-US" dirty="0"/>
              <a:t> (view single post) </a:t>
            </a:r>
          </a:p>
          <a:p>
            <a:r>
              <a:rPr lang="en-US" dirty="0"/>
              <a:t>Get all posts by a user (user's profile/timeline) </a:t>
            </a:r>
          </a:p>
          <a:p>
            <a:r>
              <a:rPr lang="en-US" dirty="0"/>
              <a:t>Get recent posts (homepage feed, sorted by timestamp) </a:t>
            </a:r>
          </a:p>
          <a:p>
            <a:r>
              <a:rPr lang="en-US" dirty="0"/>
              <a:t>Get posts by category/tag </a:t>
            </a:r>
          </a:p>
          <a:p>
            <a:r>
              <a:rPr lang="en-US" dirty="0"/>
              <a:t>Get posts in a date range </a:t>
            </a:r>
          </a:p>
          <a:p>
            <a:r>
              <a:rPr lang="en-US" dirty="0"/>
              <a:t>Get top posts (by likes/views) </a:t>
            </a:r>
          </a:p>
          <a:p>
            <a:r>
              <a:rPr lang="en-US" dirty="0"/>
              <a:t>Search posts by keyword/content (full-text search) </a:t>
            </a:r>
          </a:p>
        </p:txBody>
      </p:sp>
    </p:spTree>
    <p:extLst>
      <p:ext uri="{BB962C8B-B14F-4D97-AF65-F5344CB8AC3E}">
        <p14:creationId xmlns:p14="http://schemas.microsoft.com/office/powerpoint/2010/main" val="590033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3DD7-62DC-A0BF-96C7-727FC949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C39F-3B8D-6C26-E842-B85F50C2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– User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4C00-D2CD-F640-395F-363C763B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/>
          <a:lstStyle/>
          <a:p>
            <a:r>
              <a:rPr lang="en-US" b="1" dirty="0"/>
              <a:t>Users Table</a:t>
            </a:r>
            <a:endParaRPr lang="en-US" dirty="0"/>
          </a:p>
          <a:p>
            <a:r>
              <a:rPr lang="en-US" b="1" dirty="0"/>
              <a:t>Primary Key</a:t>
            </a:r>
            <a:endParaRPr lang="en-US" dirty="0"/>
          </a:p>
          <a:p>
            <a:pPr lvl="1"/>
            <a:r>
              <a:rPr lang="en-US" dirty="0"/>
              <a:t>PK: </a:t>
            </a:r>
            <a:r>
              <a:rPr lang="en-US" dirty="0" err="1"/>
              <a:t>user_id</a:t>
            </a:r>
            <a:endParaRPr lang="en-US" dirty="0"/>
          </a:p>
          <a:p>
            <a:r>
              <a:rPr lang="en-US" b="1" dirty="0"/>
              <a:t>GSIs (Global Secondary Indexes)</a:t>
            </a:r>
            <a:endParaRPr lang="en-US" dirty="0"/>
          </a:p>
          <a:p>
            <a:pPr lvl="1"/>
            <a:r>
              <a:rPr lang="en-US" dirty="0"/>
              <a:t>GSI1: email (PK)</a:t>
            </a:r>
          </a:p>
          <a:p>
            <a:pPr lvl="1"/>
            <a:r>
              <a:rPr lang="en-US" dirty="0"/>
              <a:t>GSI2: username (PK)  </a:t>
            </a:r>
          </a:p>
          <a:p>
            <a:pPr lvl="1"/>
            <a:r>
              <a:rPr lang="en-US" dirty="0"/>
              <a:t>GSI3: phone (PK)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67C87-74CE-4CF5-D933-E7987ED2E432}"/>
              </a:ext>
            </a:extLst>
          </p:cNvPr>
          <p:cNvSpPr txBox="1"/>
          <p:nvPr/>
        </p:nvSpPr>
        <p:spPr>
          <a:xfrm>
            <a:off x="6333893" y="2540709"/>
            <a:ext cx="49636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getUserById</a:t>
            </a:r>
            <a:r>
              <a:rPr lang="en-US" dirty="0"/>
              <a:t>(</a:t>
            </a:r>
            <a:r>
              <a:rPr lang="en-US" dirty="0" err="1"/>
              <a:t>user_id</a:t>
            </a:r>
            <a:r>
              <a:rPr lang="en-US" dirty="0"/>
              <a:t>) → Query on PK</a:t>
            </a:r>
          </a:p>
          <a:p>
            <a:r>
              <a:rPr lang="en-US" dirty="0" err="1"/>
              <a:t>getUserByEmail</a:t>
            </a:r>
            <a:r>
              <a:rPr lang="en-US" dirty="0"/>
              <a:t>(email) → Query on GSI1</a:t>
            </a:r>
          </a:p>
          <a:p>
            <a:r>
              <a:rPr lang="en-US" dirty="0" err="1"/>
              <a:t>getUserByUsername</a:t>
            </a:r>
            <a:r>
              <a:rPr lang="en-US" dirty="0"/>
              <a:t>(username) → Query on GSI2</a:t>
            </a:r>
          </a:p>
          <a:p>
            <a:r>
              <a:rPr lang="en-US" dirty="0" err="1"/>
              <a:t>getUserByPhone</a:t>
            </a:r>
            <a:r>
              <a:rPr lang="en-US" dirty="0"/>
              <a:t>(phone) → Query on GSI3</a:t>
            </a:r>
          </a:p>
        </p:txBody>
      </p:sp>
    </p:spTree>
    <p:extLst>
      <p:ext uri="{BB962C8B-B14F-4D97-AF65-F5344CB8AC3E}">
        <p14:creationId xmlns:p14="http://schemas.microsoft.com/office/powerpoint/2010/main" val="285032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28A9-83FB-4322-0557-C5261C3B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D0DC-C885-51B3-F0B5-4BE9DB9E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– Post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C47BE-8BB4-B1E3-3F4F-0C0C1A99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Primary Key</a:t>
            </a:r>
            <a:endParaRPr lang="en-US" dirty="0"/>
          </a:p>
          <a:p>
            <a:pPr lvl="1"/>
            <a:r>
              <a:rPr lang="en-US" dirty="0"/>
              <a:t>PK: </a:t>
            </a:r>
            <a:r>
              <a:rPr lang="en-US" dirty="0" err="1"/>
              <a:t>user_id</a:t>
            </a:r>
            <a:endParaRPr lang="en-US" dirty="0"/>
          </a:p>
          <a:p>
            <a:pPr lvl="1"/>
            <a:r>
              <a:rPr lang="en-US" dirty="0"/>
              <a:t>SK: </a:t>
            </a:r>
            <a:r>
              <a:rPr lang="en-US" dirty="0" err="1"/>
              <a:t>created_at</a:t>
            </a:r>
            <a:r>
              <a:rPr lang="en-US" dirty="0"/>
              <a:t> (or timestamp in reverse for newest first)</a:t>
            </a:r>
          </a:p>
          <a:p>
            <a:r>
              <a:rPr lang="en-US" b="1" dirty="0"/>
              <a:t>GSIs</a:t>
            </a:r>
            <a:endParaRPr lang="en-US" dirty="0"/>
          </a:p>
          <a:p>
            <a:pPr lvl="1"/>
            <a:r>
              <a:rPr lang="en-US" dirty="0"/>
              <a:t>GSI1: </a:t>
            </a:r>
          </a:p>
          <a:p>
            <a:pPr lvl="2"/>
            <a:r>
              <a:rPr lang="en-US" dirty="0"/>
              <a:t>PK: </a:t>
            </a:r>
            <a:r>
              <a:rPr lang="en-US" dirty="0" err="1"/>
              <a:t>post_id</a:t>
            </a:r>
            <a:r>
              <a:rPr lang="en-US" dirty="0"/>
              <a:t> (for direct post lookup)</a:t>
            </a:r>
          </a:p>
          <a:p>
            <a:pPr lvl="1"/>
            <a:r>
              <a:rPr lang="en-US" dirty="0"/>
              <a:t>GSI2: </a:t>
            </a:r>
          </a:p>
          <a:p>
            <a:pPr lvl="2"/>
            <a:r>
              <a:rPr lang="en-US" dirty="0"/>
              <a:t>PK: "POSTS" (fixed value)</a:t>
            </a:r>
          </a:p>
          <a:p>
            <a:pPr lvl="2"/>
            <a:r>
              <a:rPr lang="en-US" dirty="0"/>
              <a:t>SK: </a:t>
            </a:r>
            <a:r>
              <a:rPr lang="en-US" dirty="0" err="1"/>
              <a:t>created_at</a:t>
            </a:r>
            <a:r>
              <a:rPr lang="en-US" dirty="0"/>
              <a:t> (for recent posts globally)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0EE83-759B-618A-83E2-003AE6DDD023}"/>
              </a:ext>
            </a:extLst>
          </p:cNvPr>
          <p:cNvSpPr txBox="1"/>
          <p:nvPr/>
        </p:nvSpPr>
        <p:spPr>
          <a:xfrm>
            <a:off x="6333893" y="2540709"/>
            <a:ext cx="299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problems in this design?</a:t>
            </a:r>
          </a:p>
        </p:txBody>
      </p:sp>
    </p:spTree>
    <p:extLst>
      <p:ext uri="{BB962C8B-B14F-4D97-AF65-F5344CB8AC3E}">
        <p14:creationId xmlns:p14="http://schemas.microsoft.com/office/powerpoint/2010/main" val="1348733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4D0B-7B23-7812-4741-B223D107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BB3C-E149-780B-BC37-9C6F563C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– Post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00A8-B073-7654-29CD-9451DF061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/>
          </a:bodyPr>
          <a:lstStyle/>
          <a:p>
            <a:r>
              <a:rPr lang="en-US" b="1" dirty="0"/>
              <a:t>Primary Key</a:t>
            </a:r>
            <a:endParaRPr lang="en-US" dirty="0"/>
          </a:p>
          <a:p>
            <a:pPr lvl="1"/>
            <a:r>
              <a:rPr lang="en-US" dirty="0"/>
              <a:t>PK: </a:t>
            </a:r>
            <a:r>
              <a:rPr lang="en-US" dirty="0" err="1"/>
              <a:t>post_id</a:t>
            </a:r>
            <a:endParaRPr lang="en-US" dirty="0"/>
          </a:p>
          <a:p>
            <a:pPr lvl="1"/>
            <a:r>
              <a:rPr lang="en-US" dirty="0"/>
              <a:t>SK: </a:t>
            </a:r>
            <a:r>
              <a:rPr lang="en-US" dirty="0" err="1"/>
              <a:t>post_id</a:t>
            </a:r>
            <a:r>
              <a:rPr lang="en-US" dirty="0"/>
              <a:t> (or constant value)</a:t>
            </a:r>
          </a:p>
          <a:p>
            <a:r>
              <a:rPr lang="en-US" b="1" dirty="0"/>
              <a:t>GSIs</a:t>
            </a:r>
            <a:endParaRPr lang="en-US" dirty="0"/>
          </a:p>
          <a:p>
            <a:pPr lvl="1"/>
            <a:r>
              <a:rPr lang="en-US" dirty="0"/>
              <a:t>GSI1:</a:t>
            </a:r>
          </a:p>
          <a:p>
            <a:pPr lvl="2"/>
            <a:r>
              <a:rPr lang="en-US" dirty="0"/>
              <a:t>PK: </a:t>
            </a:r>
            <a:r>
              <a:rPr lang="en-US" dirty="0" err="1"/>
              <a:t>user_id</a:t>
            </a:r>
            <a:endParaRPr lang="en-US" dirty="0"/>
          </a:p>
          <a:p>
            <a:pPr lvl="2"/>
            <a:r>
              <a:rPr lang="en-US" dirty="0"/>
              <a:t>SK: </a:t>
            </a:r>
            <a:r>
              <a:rPr lang="en-US" dirty="0" err="1"/>
              <a:t>created_at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3A075-906A-A720-A457-2DADC9B7C374}"/>
              </a:ext>
            </a:extLst>
          </p:cNvPr>
          <p:cNvSpPr txBox="1"/>
          <p:nvPr/>
        </p:nvSpPr>
        <p:spPr>
          <a:xfrm>
            <a:off x="6333893" y="2540709"/>
            <a:ext cx="33174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problems in this design?</a:t>
            </a:r>
          </a:p>
          <a:p>
            <a:endParaRPr lang="en-US" dirty="0"/>
          </a:p>
          <a:p>
            <a:r>
              <a:rPr lang="en-US" dirty="0"/>
              <a:t>How to get recent posts globally?</a:t>
            </a:r>
          </a:p>
        </p:txBody>
      </p:sp>
    </p:spTree>
    <p:extLst>
      <p:ext uri="{BB962C8B-B14F-4D97-AF65-F5344CB8AC3E}">
        <p14:creationId xmlns:p14="http://schemas.microsoft.com/office/powerpoint/2010/main" val="93800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26CF-5CE1-E781-04BE-911D612F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A62C-B795-DDBD-1C12-BBF87CB00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get posts by upvote count (most popular posts)?</a:t>
            </a:r>
          </a:p>
        </p:txBody>
      </p:sp>
    </p:spTree>
    <p:extLst>
      <p:ext uri="{BB962C8B-B14F-4D97-AF65-F5344CB8AC3E}">
        <p14:creationId xmlns:p14="http://schemas.microsoft.com/office/powerpoint/2010/main" val="1913751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236E-E5CA-24E5-CA79-BBF94631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8064-F26F-0C3F-4121-019684555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7235-FA75-A4DD-8706-89F28EEC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search posts and return top posts based on upvote count?</a:t>
            </a:r>
          </a:p>
        </p:txBody>
      </p:sp>
    </p:spTree>
    <p:extLst>
      <p:ext uri="{BB962C8B-B14F-4D97-AF65-F5344CB8AC3E}">
        <p14:creationId xmlns:p14="http://schemas.microsoft.com/office/powerpoint/2010/main" val="1305571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BD8C-B2F3-AF49-4001-8A83EED7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97DA-4A3E-21BC-DE33-DA5EBA03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32476-E8F4-9018-628E-7E54A8730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8594789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-- Full-text search + sort</a:t>
            </a:r>
          </a:p>
          <a:p>
            <a:pPr marL="0" indent="0">
              <a:buNone/>
            </a:pPr>
            <a:r>
              <a:rPr lang="en-US" dirty="0"/>
              <a:t>SELECT * FROM posts</a:t>
            </a:r>
          </a:p>
          <a:p>
            <a:pPr marL="0" indent="0">
              <a:buNone/>
            </a:pPr>
            <a:r>
              <a:rPr lang="en-US" dirty="0"/>
              <a:t>WHERE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to_tsvector</a:t>
            </a:r>
            <a:r>
              <a:rPr lang="en-US" dirty="0"/>
              <a:t>('</a:t>
            </a:r>
            <a:r>
              <a:rPr lang="en-US" dirty="0" err="1"/>
              <a:t>english</a:t>
            </a:r>
            <a:r>
              <a:rPr lang="en-US" dirty="0"/>
              <a:t>', content) @@ </a:t>
            </a:r>
            <a:r>
              <a:rPr lang="en-US" dirty="0" err="1"/>
              <a:t>to_tsquery</a:t>
            </a:r>
            <a:r>
              <a:rPr lang="en-US" dirty="0"/>
              <a:t>('</a:t>
            </a:r>
            <a:r>
              <a:rPr lang="en-US" dirty="0" err="1"/>
              <a:t>javascript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/>
              <a:t>  AND category = 'tech'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upvote_count</a:t>
            </a:r>
            <a:r>
              <a:rPr lang="en-US" dirty="0"/>
              <a:t> DESC</a:t>
            </a:r>
          </a:p>
          <a:p>
            <a:pPr marL="0" indent="0">
              <a:buNone/>
            </a:pPr>
            <a:r>
              <a:rPr lang="en-US" dirty="0"/>
              <a:t>LIMIT 20;</a:t>
            </a:r>
          </a:p>
        </p:txBody>
      </p:sp>
    </p:spTree>
    <p:extLst>
      <p:ext uri="{BB962C8B-B14F-4D97-AF65-F5344CB8AC3E}">
        <p14:creationId xmlns:p14="http://schemas.microsoft.com/office/powerpoint/2010/main" val="1580936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758A-DBE8-179C-F0BA-98F58D63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3D92-5E9A-AE4F-3DE6-82839171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3EBF2-E204-77EA-AE58-A634C2805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305" y="1391655"/>
            <a:ext cx="6729664" cy="41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3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0C3F-FD9B-DFD5-3383-3AC7540F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Table Design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006C652-7ECC-53B2-7203-7B12CCC377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560" y="1704180"/>
            <a:ext cx="8697840" cy="493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47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990C-B2D5-845B-B309-57E74186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 Pattern - </a:t>
            </a:r>
            <a:r>
              <a:rPr lang="en-US" b="1" dirty="0"/>
              <a:t>Hot Partitions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76F5-485D-6143-24DD-0E81C240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sharding</a:t>
            </a:r>
          </a:p>
          <a:p>
            <a:r>
              <a:rPr lang="en-US" dirty="0"/>
              <a:t>Partition key design strategies</a:t>
            </a:r>
          </a:p>
          <a:p>
            <a:r>
              <a:rPr lang="en-US" dirty="0"/>
              <a:t>Time-based bucketing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9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C017-CB79-9AF1-982F-B558E457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E081-8347-A9B5-F191-CC602FCC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 Pattern - </a:t>
            </a:r>
            <a:r>
              <a:rPr lang="en-US" b="1" dirty="0"/>
              <a:t>Unbounded Growth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C9C5-E495-58B5-A047-8F449F12D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Bucketing pattern (detailed)</a:t>
            </a:r>
          </a:p>
          <a:p>
            <a:r>
              <a:rPr lang="en-US" dirty="0"/>
              <a:t>Pagination strategies</a:t>
            </a:r>
          </a:p>
          <a:p>
            <a:r>
              <a:rPr lang="en-US" dirty="0"/>
              <a:t>Archive old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39919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7368</TotalTime>
  <Words>747</Words>
  <Application>Microsoft Macintosh PowerPoint</Application>
  <PresentationFormat>Widescreen</PresentationFormat>
  <Paragraphs>100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Gill Sans MT</vt:lpstr>
      <vt:lpstr>Gallery</vt:lpstr>
      <vt:lpstr>NoSQL Design</vt:lpstr>
      <vt:lpstr>Keys</vt:lpstr>
      <vt:lpstr>Partition Key</vt:lpstr>
      <vt:lpstr>Sort Key</vt:lpstr>
      <vt:lpstr>Key Differences and Relationship</vt:lpstr>
      <vt:lpstr>Query vs SCAN</vt:lpstr>
      <vt:lpstr>IndexeS</vt:lpstr>
      <vt:lpstr>Core Principles</vt:lpstr>
      <vt:lpstr>Query-Driven Design - Users</vt:lpstr>
      <vt:lpstr>Query-Driven Design - POSTS</vt:lpstr>
      <vt:lpstr>Query-Driven Design – User Table</vt:lpstr>
      <vt:lpstr>Query-Driven Design – Post Table</vt:lpstr>
      <vt:lpstr>Query-Driven Design – Post Table</vt:lpstr>
      <vt:lpstr>Question</vt:lpstr>
      <vt:lpstr>Question</vt:lpstr>
      <vt:lpstr>Question</vt:lpstr>
      <vt:lpstr>PowerPoint Presentation</vt:lpstr>
      <vt:lpstr>Single Table Design</vt:lpstr>
      <vt:lpstr>Anti Pattern - Hot Partitions</vt:lpstr>
      <vt:lpstr>Anti Pattern - Unbounded Growth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Denny</dc:creator>
  <cp:lastModifiedBy>Wang, Denny</cp:lastModifiedBy>
  <cp:revision>55</cp:revision>
  <dcterms:created xsi:type="dcterms:W3CDTF">2025-09-28T15:46:03Z</dcterms:created>
  <dcterms:modified xsi:type="dcterms:W3CDTF">2025-11-13T02:38:05Z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2025-09-28T15:46:19Z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b3fd8f3b-e1e8-404d-882b-ad0e79870a21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